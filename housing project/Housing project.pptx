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1" r:id="rId1"/>
  </p:sldMasterIdLst>
  <p:sldIdLst>
    <p:sldId id="256" r:id="rId2"/>
    <p:sldId id="260" r:id="rId3"/>
    <p:sldId id="257" r:id="rId4"/>
    <p:sldId id="258" r:id="rId5"/>
    <p:sldId id="259"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4FAB73BC-B049-4115-A692-8D63A059BFB8}"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3595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3436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5986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56570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7084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73046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5336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88692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6DFF08F-DC6B-4601-B491-B0F83F6DD2DA}" type="datetimeFigureOut">
              <a:rPr lang="en-US" smtClean="0"/>
              <a:t>3/16/2022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5004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64830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4568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6DFF08F-DC6B-4601-B491-B0F83F6DD2DA}" type="datetimeFigureOut">
              <a:rPr lang="en-US" smtClean="0"/>
              <a:pPr/>
              <a:t>3/16/2022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FAB73BC-B049-4115-A692-8D63A059BFB8}"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2134819"/>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6E11D-19AF-45FB-8B29-EA114241B0AE}"/>
              </a:ext>
            </a:extLst>
          </p:cNvPr>
          <p:cNvSpPr>
            <a:spLocks noGrp="1"/>
          </p:cNvSpPr>
          <p:nvPr>
            <p:ph type="title"/>
          </p:nvPr>
        </p:nvSpPr>
        <p:spPr/>
        <p:txBody>
          <a:bodyPr>
            <a:normAutofit/>
          </a:bodyPr>
          <a:lstStyle/>
          <a:p>
            <a:r>
              <a:rPr lang="en-US" sz="4800" dirty="0">
                <a:solidFill>
                  <a:srgbClr val="FF0000"/>
                </a:solidFill>
              </a:rPr>
              <a:t>Housing project</a:t>
            </a:r>
            <a:endParaRPr lang="en-IN" sz="4800" dirty="0">
              <a:solidFill>
                <a:srgbClr val="FF0000"/>
              </a:solidFill>
            </a:endParaRPr>
          </a:p>
        </p:txBody>
      </p:sp>
      <p:sp>
        <p:nvSpPr>
          <p:cNvPr id="3" name="Subtitle 2">
            <a:extLst>
              <a:ext uri="{FF2B5EF4-FFF2-40B4-BE49-F238E27FC236}">
                <a16:creationId xmlns:a16="http://schemas.microsoft.com/office/drawing/2014/main" id="{E5A54B8D-3B68-4511-BE35-54DBACF44728}"/>
              </a:ext>
            </a:extLst>
          </p:cNvPr>
          <p:cNvSpPr>
            <a:spLocks noGrp="1"/>
          </p:cNvSpPr>
          <p:nvPr>
            <p:ph idx="1"/>
          </p:nvPr>
        </p:nvSpPr>
        <p:spPr>
          <a:xfrm>
            <a:off x="1451579" y="2015732"/>
            <a:ext cx="9603275" cy="4037749"/>
          </a:xfrm>
        </p:spPr>
        <p:txBody>
          <a:bodyPr>
            <a:normAutofit fontScale="25000" lnSpcReduction="20000"/>
          </a:bodyPr>
          <a:lstStyle/>
          <a:p>
            <a:endParaRPr lang="en-US" sz="8000" dirty="0">
              <a:solidFill>
                <a:schemeClr val="tx1"/>
              </a:solidFill>
            </a:endParaRPr>
          </a:p>
          <a:p>
            <a:pPr>
              <a:buFont typeface="Wingdings" panose="05000000000000000000" pitchFamily="2" charset="2"/>
              <a:buChar char="q"/>
            </a:pPr>
            <a:r>
              <a:rPr lang="en-US" sz="8000" dirty="0">
                <a:solidFill>
                  <a:schemeClr val="tx1"/>
                </a:solidFill>
              </a:rPr>
              <a:t>PROBLEM STATEMENT:-</a:t>
            </a:r>
            <a:endParaRPr lang="en-IN" sz="8000" dirty="0">
              <a:solidFill>
                <a:schemeClr val="tx1"/>
              </a:solidFill>
            </a:endParaRPr>
          </a:p>
          <a:p>
            <a:pPr algn="l"/>
            <a:r>
              <a:rPr lang="en-US" sz="4800" b="0" i="0" dirty="0">
                <a:solidFill>
                  <a:srgbClr val="000000"/>
                </a:solidFill>
                <a:effectLst/>
                <a:latin typeface="Helvetica Neue"/>
              </a:rPr>
              <a:t>Houses are one of the necessary need of each and every person around the globe and therefore housing and real estate market is one of the markets which is one of the major contributors in the world’s economy. It is a very large market and there are various companies working in the domain. Data science comes as a very important tool to solve problems in the domain to help the companies increase their overall revenue, profits, improving their marketing strategies and focusing on changing trends in house sales and purchases. Predictive modelling, Market mix modelling, recommendation systems are some of the machine learning techniques used for achieving the business goals for housing companies. Our problem is related to one such housing company. A US-based housing company named Surprise Housing has decided to enter the Australian market. The company uses data analytics to purchase houses at a price below their actual values and flip them at a higher price. For the same purpose, the company has collected a data set from the sale of houses in Australia. The data is provided in the CSV file below.</a:t>
            </a:r>
          </a:p>
          <a:p>
            <a:pPr algn="l"/>
            <a:r>
              <a:rPr lang="en-US" sz="4800" b="0" i="0" dirty="0">
                <a:solidFill>
                  <a:srgbClr val="000000"/>
                </a:solidFill>
                <a:effectLst/>
                <a:latin typeface="Helvetica Neue"/>
              </a:rPr>
              <a:t>The company is looking at prospective properties to buy houses to enter the market. You are required to build a model using Machine Learning in order to predict the actual value of the prospective properties and decide whether to invest in them or not. For this company wants to know:</a:t>
            </a:r>
          </a:p>
          <a:p>
            <a:pPr algn="l"/>
            <a:r>
              <a:rPr lang="en-US" sz="4800" b="0" i="0" dirty="0">
                <a:solidFill>
                  <a:srgbClr val="000000"/>
                </a:solidFill>
                <a:effectLst/>
                <a:latin typeface="Helvetica Neue"/>
              </a:rPr>
              <a:t>• Which variables are important to predict the price of variable?</a:t>
            </a:r>
          </a:p>
          <a:p>
            <a:pPr algn="l"/>
            <a:r>
              <a:rPr lang="en-US" sz="4800" b="0" i="0" dirty="0">
                <a:solidFill>
                  <a:srgbClr val="000000"/>
                </a:solidFill>
                <a:effectLst/>
                <a:latin typeface="Helvetica Neue"/>
              </a:rPr>
              <a:t>• How do these variables describe the price of the house?</a:t>
            </a:r>
          </a:p>
          <a:p>
            <a:endParaRPr lang="en-US" sz="2000" dirty="0">
              <a:solidFill>
                <a:schemeClr val="tx1"/>
              </a:solidFill>
            </a:endParaRPr>
          </a:p>
        </p:txBody>
      </p:sp>
    </p:spTree>
    <p:extLst>
      <p:ext uri="{BB962C8B-B14F-4D97-AF65-F5344CB8AC3E}">
        <p14:creationId xmlns:p14="http://schemas.microsoft.com/office/powerpoint/2010/main" val="2568629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19A2EB-B7D9-4082-8E07-0556F3B1F262}"/>
              </a:ext>
            </a:extLst>
          </p:cNvPr>
          <p:cNvSpPr>
            <a:spLocks noGrp="1"/>
          </p:cNvSpPr>
          <p:nvPr>
            <p:ph type="title"/>
          </p:nvPr>
        </p:nvSpPr>
        <p:spPr/>
        <p:txBody>
          <a:bodyPr/>
          <a:lstStyle/>
          <a:p>
            <a:r>
              <a:rPr lang="en-US" dirty="0"/>
              <a:t>Problem statement</a:t>
            </a:r>
            <a:br>
              <a:rPr lang="en-US" dirty="0"/>
            </a:br>
            <a:endParaRPr lang="en-IN" dirty="0"/>
          </a:p>
        </p:txBody>
      </p:sp>
      <p:sp>
        <p:nvSpPr>
          <p:cNvPr id="5" name="Content Placeholder 4">
            <a:extLst>
              <a:ext uri="{FF2B5EF4-FFF2-40B4-BE49-F238E27FC236}">
                <a16:creationId xmlns:a16="http://schemas.microsoft.com/office/drawing/2014/main" id="{A3F5F008-CDC2-4A28-8512-323A957385BD}"/>
              </a:ext>
            </a:extLst>
          </p:cNvPr>
          <p:cNvSpPr>
            <a:spLocks noGrp="1"/>
          </p:cNvSpPr>
          <p:nvPr>
            <p:ph idx="1"/>
          </p:nvPr>
        </p:nvSpPr>
        <p:spPr/>
        <p:txBody>
          <a:bodyPr>
            <a:normAutofit fontScale="47500" lnSpcReduction="20000"/>
          </a:bodyPr>
          <a:lstStyle/>
          <a:p>
            <a:pPr marL="0" indent="0" algn="l">
              <a:buNone/>
            </a:pPr>
            <a:r>
              <a:rPr lang="en-US" b="1" i="1" u="sng" dirty="0">
                <a:solidFill>
                  <a:srgbClr val="000000"/>
                </a:solidFill>
                <a:effectLst/>
                <a:latin typeface="Helvetica Neue"/>
              </a:rPr>
              <a:t>Business Goal:</a:t>
            </a:r>
          </a:p>
          <a:p>
            <a:pPr algn="l"/>
            <a:r>
              <a:rPr lang="en-US" b="0" i="0" dirty="0">
                <a:solidFill>
                  <a:srgbClr val="000000"/>
                </a:solidFill>
                <a:effectLst/>
                <a:latin typeface="Helvetica Neue"/>
              </a:rPr>
              <a:t>You are required to model the price of houses with the available independent variables. This model will then be used by the management to understand how exactly the prices vary with the variables. They can accordingly manipulate the strategy of the firm and concentrate on areas that will yield high returns. Further, the model will be a good way for the management to understand the pricing dynamics of a new market.</a:t>
            </a:r>
          </a:p>
          <a:p>
            <a:pPr algn="l"/>
            <a:r>
              <a:rPr lang="en-US" b="0" i="0" dirty="0">
                <a:solidFill>
                  <a:srgbClr val="000000"/>
                </a:solidFill>
                <a:effectLst/>
                <a:latin typeface="Helvetica Neue"/>
              </a:rPr>
              <a:t>Technical Requirements:</a:t>
            </a:r>
          </a:p>
          <a:p>
            <a:pPr algn="l"/>
            <a:r>
              <a:rPr lang="en-US" b="0" i="0" dirty="0">
                <a:solidFill>
                  <a:srgbClr val="000000"/>
                </a:solidFill>
                <a:effectLst/>
                <a:latin typeface="Helvetica Neue"/>
              </a:rPr>
              <a:t>• Data contains 1460 entries each having 81 variables.</a:t>
            </a:r>
          </a:p>
          <a:p>
            <a:pPr algn="l"/>
            <a:r>
              <a:rPr lang="en-US" b="0" i="0" dirty="0">
                <a:solidFill>
                  <a:srgbClr val="000000"/>
                </a:solidFill>
                <a:effectLst/>
                <a:latin typeface="Helvetica Neue"/>
              </a:rPr>
              <a:t>• Data contains Null values. You need to treat them using the domain knowledge and your own understanding.</a:t>
            </a:r>
          </a:p>
          <a:p>
            <a:pPr algn="l"/>
            <a:r>
              <a:rPr lang="en-US" b="0" i="0" dirty="0">
                <a:solidFill>
                  <a:srgbClr val="000000"/>
                </a:solidFill>
                <a:effectLst/>
                <a:latin typeface="Helvetica Neue"/>
              </a:rPr>
              <a:t>• Extensive EDA has to be performed to gain relationships of important variable and price.</a:t>
            </a:r>
          </a:p>
          <a:p>
            <a:pPr algn="l"/>
            <a:r>
              <a:rPr lang="en-US" b="0" i="0" dirty="0">
                <a:solidFill>
                  <a:srgbClr val="000000"/>
                </a:solidFill>
                <a:effectLst/>
                <a:latin typeface="Helvetica Neue"/>
              </a:rPr>
              <a:t>• Data contains numerical as well as categorical variable. You need to handle them accordingly.</a:t>
            </a:r>
          </a:p>
          <a:p>
            <a:pPr algn="l"/>
            <a:r>
              <a:rPr lang="en-US" b="0" i="0" dirty="0">
                <a:solidFill>
                  <a:srgbClr val="000000"/>
                </a:solidFill>
                <a:effectLst/>
                <a:latin typeface="Helvetica Neue"/>
              </a:rPr>
              <a:t>• You have to build Machine Learning models, apply regularization and determine the optimal values of Hyper Parameters.</a:t>
            </a:r>
          </a:p>
          <a:p>
            <a:pPr algn="l"/>
            <a:r>
              <a:rPr lang="en-US" b="0" i="0" dirty="0">
                <a:solidFill>
                  <a:srgbClr val="000000"/>
                </a:solidFill>
                <a:effectLst/>
                <a:latin typeface="Helvetica Neue"/>
              </a:rPr>
              <a:t>• You need to find important features which affect the price positively or negatively.</a:t>
            </a:r>
          </a:p>
          <a:p>
            <a:pPr algn="l"/>
            <a:r>
              <a:rPr lang="en-US" b="0" i="0" dirty="0">
                <a:solidFill>
                  <a:srgbClr val="000000"/>
                </a:solidFill>
                <a:effectLst/>
                <a:latin typeface="Helvetica Neue"/>
              </a:rPr>
              <a:t>• Two datasets are being provided to you (test.csv, train.csv). You will train on train.csv dataset and predict on test.csv file.</a:t>
            </a:r>
          </a:p>
          <a:p>
            <a:pPr algn="l"/>
            <a:r>
              <a:rPr lang="en-US" b="0" i="0" dirty="0">
                <a:solidFill>
                  <a:srgbClr val="000000"/>
                </a:solidFill>
                <a:effectLst/>
                <a:latin typeface="Helvetica Neue"/>
              </a:rPr>
              <a:t>The “Data file.csv” and “Data description.txt” are enclosed with this file</a:t>
            </a:r>
          </a:p>
          <a:p>
            <a:endParaRPr lang="en-IN" dirty="0"/>
          </a:p>
        </p:txBody>
      </p:sp>
    </p:spTree>
    <p:extLst>
      <p:ext uri="{BB962C8B-B14F-4D97-AF65-F5344CB8AC3E}">
        <p14:creationId xmlns:p14="http://schemas.microsoft.com/office/powerpoint/2010/main" val="1395572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B66C9-973C-46D5-BD89-B093C955598D}"/>
              </a:ext>
            </a:extLst>
          </p:cNvPr>
          <p:cNvSpPr>
            <a:spLocks noGrp="1"/>
          </p:cNvSpPr>
          <p:nvPr>
            <p:ph type="title"/>
          </p:nvPr>
        </p:nvSpPr>
        <p:spPr/>
        <p:txBody>
          <a:bodyPr>
            <a:normAutofit/>
          </a:bodyPr>
          <a:lstStyle/>
          <a:p>
            <a:r>
              <a:rPr lang="en-US" sz="4800" dirty="0">
                <a:solidFill>
                  <a:srgbClr val="92D050"/>
                </a:solidFill>
              </a:rPr>
              <a:t>EDA STEPS</a:t>
            </a:r>
            <a:endParaRPr lang="en-IN" sz="4800" dirty="0">
              <a:solidFill>
                <a:srgbClr val="92D050"/>
              </a:solidFill>
            </a:endParaRPr>
          </a:p>
        </p:txBody>
      </p:sp>
      <p:sp>
        <p:nvSpPr>
          <p:cNvPr id="3" name="Subtitle 2">
            <a:extLst>
              <a:ext uri="{FF2B5EF4-FFF2-40B4-BE49-F238E27FC236}">
                <a16:creationId xmlns:a16="http://schemas.microsoft.com/office/drawing/2014/main" id="{D717D3A8-5201-4370-B24B-2FEC49EB216E}"/>
              </a:ext>
            </a:extLst>
          </p:cNvPr>
          <p:cNvSpPr>
            <a:spLocks noGrp="1"/>
          </p:cNvSpPr>
          <p:nvPr>
            <p:ph idx="1"/>
          </p:nvPr>
        </p:nvSpPr>
        <p:spPr/>
        <p:txBody>
          <a:bodyPr>
            <a:normAutofit/>
          </a:bodyPr>
          <a:lstStyle/>
          <a:p>
            <a:pPr marL="45720" indent="0">
              <a:buNone/>
            </a:pPr>
            <a:r>
              <a:rPr lang="en-US" dirty="0">
                <a:solidFill>
                  <a:srgbClr val="0070C0"/>
                </a:solidFill>
              </a:rPr>
              <a:t>1.Import  All the important Libraries</a:t>
            </a:r>
          </a:p>
          <a:p>
            <a:pPr marL="45720" indent="0">
              <a:buNone/>
            </a:pPr>
            <a:r>
              <a:rPr lang="en-US" dirty="0">
                <a:solidFill>
                  <a:srgbClr val="0070C0"/>
                </a:solidFill>
              </a:rPr>
              <a:t>2.Load the data set which is to be used for analysis</a:t>
            </a:r>
          </a:p>
          <a:p>
            <a:pPr marL="45720" indent="0">
              <a:buNone/>
            </a:pPr>
            <a:r>
              <a:rPr lang="en-US" dirty="0">
                <a:solidFill>
                  <a:srgbClr val="0070C0"/>
                </a:solidFill>
              </a:rPr>
              <a:t>3.Check for the null values in the dataset</a:t>
            </a:r>
          </a:p>
          <a:p>
            <a:pPr lvl="1" algn="just">
              <a:buFont typeface="Wingdings" panose="05000000000000000000" pitchFamily="2" charset="2"/>
              <a:buChar char="Ø"/>
            </a:pPr>
            <a:r>
              <a:rPr lang="en-US" dirty="0">
                <a:solidFill>
                  <a:srgbClr val="FF0000"/>
                </a:solidFill>
              </a:rPr>
              <a:t>If there are null values fill them using </a:t>
            </a:r>
            <a:r>
              <a:rPr lang="en-US" dirty="0" err="1">
                <a:solidFill>
                  <a:srgbClr val="FF0000"/>
                </a:solidFill>
              </a:rPr>
              <a:t>fillna</a:t>
            </a:r>
            <a:r>
              <a:rPr lang="en-US" dirty="0">
                <a:solidFill>
                  <a:srgbClr val="FF0000"/>
                </a:solidFill>
              </a:rPr>
              <a:t> method</a:t>
            </a:r>
          </a:p>
          <a:p>
            <a:pPr marL="45720" indent="0" algn="just">
              <a:buNone/>
            </a:pPr>
            <a:r>
              <a:rPr lang="en-US" dirty="0">
                <a:solidFill>
                  <a:srgbClr val="0070C0"/>
                </a:solidFill>
              </a:rPr>
              <a:t>4. Check data description</a:t>
            </a:r>
          </a:p>
          <a:p>
            <a:pPr lvl="1" algn="just">
              <a:buFont typeface="Wingdings" panose="05000000000000000000" pitchFamily="2" charset="2"/>
              <a:buChar char="q"/>
            </a:pPr>
            <a:r>
              <a:rPr lang="en-IN" dirty="0">
                <a:solidFill>
                  <a:srgbClr val="FF0000"/>
                </a:solidFill>
              </a:rPr>
              <a:t> data description show full description of every column like:- std,mean,median,25% of the column and some other important information about every columns</a:t>
            </a:r>
            <a:endParaRPr lang="en-IN" dirty="0">
              <a:solidFill>
                <a:srgbClr val="0070C0"/>
              </a:solidFill>
            </a:endParaRPr>
          </a:p>
          <a:p>
            <a:pPr marL="457200" lvl="1" indent="0" algn="just">
              <a:buNone/>
            </a:pPr>
            <a:endParaRPr lang="en-IN" dirty="0">
              <a:solidFill>
                <a:srgbClr val="FF0000"/>
              </a:solidFill>
            </a:endParaRPr>
          </a:p>
        </p:txBody>
      </p:sp>
    </p:spTree>
    <p:extLst>
      <p:ext uri="{BB962C8B-B14F-4D97-AF65-F5344CB8AC3E}">
        <p14:creationId xmlns:p14="http://schemas.microsoft.com/office/powerpoint/2010/main" val="1067224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F49B8-0F70-410F-A987-48BD9460EB63}"/>
              </a:ext>
            </a:extLst>
          </p:cNvPr>
          <p:cNvSpPr>
            <a:spLocks noGrp="1"/>
          </p:cNvSpPr>
          <p:nvPr>
            <p:ph type="title"/>
          </p:nvPr>
        </p:nvSpPr>
        <p:spPr/>
        <p:txBody>
          <a:bodyPr/>
          <a:lstStyle/>
          <a:p>
            <a:r>
              <a:rPr lang="en-US" dirty="0">
                <a:solidFill>
                  <a:srgbClr val="0070C0"/>
                </a:solidFill>
              </a:rPr>
              <a:t>VISUALIZATION STEPS</a:t>
            </a:r>
            <a:endParaRPr lang="en-IN" dirty="0">
              <a:solidFill>
                <a:srgbClr val="0070C0"/>
              </a:solidFill>
            </a:endParaRPr>
          </a:p>
        </p:txBody>
      </p:sp>
      <p:sp>
        <p:nvSpPr>
          <p:cNvPr id="3" name="Content Placeholder 2">
            <a:extLst>
              <a:ext uri="{FF2B5EF4-FFF2-40B4-BE49-F238E27FC236}">
                <a16:creationId xmlns:a16="http://schemas.microsoft.com/office/drawing/2014/main" id="{D00F53F1-3A47-4AFF-8A27-72A820496704}"/>
              </a:ext>
            </a:extLst>
          </p:cNvPr>
          <p:cNvSpPr>
            <a:spLocks noGrp="1"/>
          </p:cNvSpPr>
          <p:nvPr>
            <p:ph idx="1"/>
          </p:nvPr>
        </p:nvSpPr>
        <p:spPr>
          <a:xfrm>
            <a:off x="1451579" y="2015732"/>
            <a:ext cx="9603275" cy="4095508"/>
          </a:xfrm>
        </p:spPr>
        <p:txBody>
          <a:bodyPr>
            <a:normAutofit/>
          </a:bodyPr>
          <a:lstStyle/>
          <a:p>
            <a:pPr>
              <a:buFont typeface="Wingdings" panose="05000000000000000000" pitchFamily="2" charset="2"/>
              <a:buChar char="v"/>
            </a:pPr>
            <a:r>
              <a:rPr lang="en-US" dirty="0">
                <a:solidFill>
                  <a:srgbClr val="FF0000"/>
                </a:solidFill>
              </a:rPr>
              <a:t> Check for correlation in the columns using heatmap or other techniques</a:t>
            </a:r>
          </a:p>
          <a:p>
            <a:pPr lvl="1" algn="just">
              <a:buFont typeface="Wingdings" panose="05000000000000000000" pitchFamily="2" charset="2"/>
              <a:buChar char="q"/>
            </a:pPr>
            <a:r>
              <a:rPr lang="en-US" dirty="0">
                <a:solidFill>
                  <a:srgbClr val="7030A0"/>
                </a:solidFill>
              </a:rPr>
              <a:t>Using correlation we can check that if any columns having high correlation with each other</a:t>
            </a:r>
            <a:r>
              <a:rPr lang="en-IN" dirty="0">
                <a:solidFill>
                  <a:srgbClr val="7030A0"/>
                </a:solidFill>
              </a:rPr>
              <a:t> we can remove one of them</a:t>
            </a:r>
            <a:endParaRPr lang="en-US" dirty="0">
              <a:solidFill>
                <a:srgbClr val="7030A0"/>
              </a:solidFill>
            </a:endParaRPr>
          </a:p>
          <a:p>
            <a:pPr>
              <a:buFont typeface="Wingdings" panose="05000000000000000000" pitchFamily="2" charset="2"/>
              <a:buChar char="v"/>
            </a:pPr>
            <a:r>
              <a:rPr lang="en-IN" dirty="0">
                <a:solidFill>
                  <a:srgbClr val="7030A0"/>
                </a:solidFill>
              </a:rPr>
              <a:t> </a:t>
            </a:r>
            <a:r>
              <a:rPr lang="en-IN" dirty="0">
                <a:solidFill>
                  <a:srgbClr val="FF0000"/>
                </a:solidFill>
              </a:rPr>
              <a:t>After checking correlation we plot the graph for data distribution among all the columns</a:t>
            </a:r>
          </a:p>
          <a:p>
            <a:pPr>
              <a:buFont typeface="Wingdings" panose="05000000000000000000" pitchFamily="2" charset="2"/>
              <a:buChar char="v"/>
            </a:pPr>
            <a:r>
              <a:rPr lang="en-IN" dirty="0">
                <a:solidFill>
                  <a:srgbClr val="FF0000"/>
                </a:solidFill>
              </a:rPr>
              <a:t> With the help of data distribution graph we can see that data is distributed well or not , if not distributed well we can check skewness using </a:t>
            </a:r>
            <a:r>
              <a:rPr lang="en-IN" dirty="0" err="1"/>
              <a:t>data.skew</a:t>
            </a:r>
            <a:r>
              <a:rPr lang="en-IN" dirty="0"/>
              <a:t>() </a:t>
            </a:r>
            <a:r>
              <a:rPr lang="en-IN" dirty="0">
                <a:solidFill>
                  <a:srgbClr val="FF0000"/>
                </a:solidFill>
              </a:rPr>
              <a:t>method</a:t>
            </a:r>
          </a:p>
          <a:p>
            <a:pPr>
              <a:buFont typeface="Wingdings" panose="05000000000000000000" pitchFamily="2" charset="2"/>
              <a:buChar char="v"/>
            </a:pPr>
            <a:r>
              <a:rPr lang="en-IN" dirty="0">
                <a:solidFill>
                  <a:srgbClr val="FF0000"/>
                </a:solidFill>
              </a:rPr>
              <a:t>If the value of any column is in between +0.5 and -0.5 that means data is distributed well otherwise there is skewness in the data</a:t>
            </a:r>
          </a:p>
          <a:p>
            <a:pPr>
              <a:buFont typeface="Wingdings" panose="05000000000000000000" pitchFamily="2" charset="2"/>
              <a:buChar char="v"/>
            </a:pPr>
            <a:r>
              <a:rPr lang="en-IN" dirty="0">
                <a:solidFill>
                  <a:srgbClr val="FF0000"/>
                </a:solidFill>
              </a:rPr>
              <a:t> Remove data skewness, I use </a:t>
            </a:r>
            <a:r>
              <a:rPr lang="en-IN" dirty="0" err="1">
                <a:solidFill>
                  <a:srgbClr val="FF0000"/>
                </a:solidFill>
              </a:rPr>
              <a:t>np.sqrt</a:t>
            </a:r>
            <a:r>
              <a:rPr lang="en-IN" dirty="0">
                <a:solidFill>
                  <a:srgbClr val="FF0000"/>
                </a:solidFill>
              </a:rPr>
              <a:t>() method here for removing the skewness.</a:t>
            </a:r>
            <a:endParaRPr lang="en-IN" dirty="0"/>
          </a:p>
          <a:p>
            <a:pPr>
              <a:buFont typeface="Wingdings" panose="05000000000000000000" pitchFamily="2" charset="2"/>
              <a:buChar char="v"/>
            </a:pPr>
            <a:endParaRPr lang="en-IN" dirty="0"/>
          </a:p>
        </p:txBody>
      </p:sp>
    </p:spTree>
    <p:extLst>
      <p:ext uri="{BB962C8B-B14F-4D97-AF65-F5344CB8AC3E}">
        <p14:creationId xmlns:p14="http://schemas.microsoft.com/office/powerpoint/2010/main" val="2222056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DEBF-6BD5-4945-B994-4724BD5CA19C}"/>
              </a:ext>
            </a:extLst>
          </p:cNvPr>
          <p:cNvSpPr>
            <a:spLocks noGrp="1"/>
          </p:cNvSpPr>
          <p:nvPr>
            <p:ph type="title"/>
          </p:nvPr>
        </p:nvSpPr>
        <p:spPr/>
        <p:txBody>
          <a:bodyPr/>
          <a:lstStyle/>
          <a:p>
            <a:r>
              <a:rPr lang="en-US" dirty="0">
                <a:solidFill>
                  <a:schemeClr val="accent3">
                    <a:lumMod val="75000"/>
                  </a:schemeClr>
                </a:solidFill>
              </a:rPr>
              <a:t>VISUALIZATION method</a:t>
            </a:r>
            <a:endParaRPr lang="en-IN" dirty="0">
              <a:solidFill>
                <a:schemeClr val="accent3">
                  <a:lumMod val="75000"/>
                </a:schemeClr>
              </a:solidFill>
            </a:endParaRPr>
          </a:p>
        </p:txBody>
      </p:sp>
      <p:sp>
        <p:nvSpPr>
          <p:cNvPr id="3" name="Content Placeholder 2">
            <a:extLst>
              <a:ext uri="{FF2B5EF4-FFF2-40B4-BE49-F238E27FC236}">
                <a16:creationId xmlns:a16="http://schemas.microsoft.com/office/drawing/2014/main" id="{241BD319-7500-438C-B5EB-AC98546B16D0}"/>
              </a:ext>
            </a:extLst>
          </p:cNvPr>
          <p:cNvSpPr>
            <a:spLocks noGrp="1"/>
          </p:cNvSpPr>
          <p:nvPr>
            <p:ph idx="1"/>
          </p:nvPr>
        </p:nvSpPr>
        <p:spPr/>
        <p:txBody>
          <a:bodyPr/>
          <a:lstStyle/>
          <a:p>
            <a:pPr>
              <a:buFont typeface="Wingdings" panose="05000000000000000000" pitchFamily="2" charset="2"/>
              <a:buChar char="ü"/>
            </a:pPr>
            <a:r>
              <a:rPr lang="en-US" dirty="0"/>
              <a:t> </a:t>
            </a:r>
            <a:r>
              <a:rPr lang="en-US" dirty="0">
                <a:solidFill>
                  <a:srgbClr val="FF0000"/>
                </a:solidFill>
              </a:rPr>
              <a:t>After handling skewness check for outliers</a:t>
            </a:r>
            <a:endParaRPr lang="en-IN" dirty="0">
              <a:solidFill>
                <a:srgbClr val="FF0000"/>
              </a:solidFill>
            </a:endParaRPr>
          </a:p>
          <a:p>
            <a:pPr>
              <a:buFont typeface="Wingdings" panose="05000000000000000000" pitchFamily="2" charset="2"/>
              <a:buChar char="ü"/>
            </a:pPr>
            <a:r>
              <a:rPr lang="en-IN" dirty="0">
                <a:solidFill>
                  <a:srgbClr val="FF0000"/>
                </a:solidFill>
              </a:rPr>
              <a:t>After checking for outlier scaled the data using </a:t>
            </a:r>
            <a:r>
              <a:rPr lang="en-IN" dirty="0" err="1">
                <a:solidFill>
                  <a:srgbClr val="FF0000"/>
                </a:solidFill>
              </a:rPr>
              <a:t>StandardScaler</a:t>
            </a:r>
            <a:endParaRPr lang="en-IN" dirty="0">
              <a:solidFill>
                <a:srgbClr val="FF0000"/>
              </a:solidFill>
            </a:endParaRPr>
          </a:p>
          <a:p>
            <a:pPr>
              <a:buFont typeface="Wingdings" panose="05000000000000000000" pitchFamily="2" charset="2"/>
              <a:buChar char="ü"/>
            </a:pPr>
            <a:r>
              <a:rPr lang="en-IN" dirty="0">
                <a:solidFill>
                  <a:srgbClr val="FF0000"/>
                </a:solidFill>
              </a:rPr>
              <a:t> Now check for </a:t>
            </a:r>
            <a:r>
              <a:rPr lang="en-IN" dirty="0" err="1"/>
              <a:t>vif</a:t>
            </a:r>
            <a:r>
              <a:rPr lang="en-IN" dirty="0"/>
              <a:t> score</a:t>
            </a:r>
            <a:r>
              <a:rPr lang="en-IN" dirty="0">
                <a:solidFill>
                  <a:srgbClr val="FF0000"/>
                </a:solidFill>
              </a:rPr>
              <a:t> for every column, which column having </a:t>
            </a:r>
            <a:r>
              <a:rPr lang="en-IN" dirty="0" err="1">
                <a:solidFill>
                  <a:srgbClr val="FF0000"/>
                </a:solidFill>
              </a:rPr>
              <a:t>vif</a:t>
            </a:r>
            <a:r>
              <a:rPr lang="en-IN" dirty="0">
                <a:solidFill>
                  <a:srgbClr val="FF0000"/>
                </a:solidFill>
              </a:rPr>
              <a:t> score more than 5 remove </a:t>
            </a:r>
            <a:r>
              <a:rPr lang="en-IN">
                <a:solidFill>
                  <a:srgbClr val="FF0000"/>
                </a:solidFill>
              </a:rPr>
              <a:t>that column</a:t>
            </a:r>
            <a:endParaRPr lang="en-US" dirty="0">
              <a:solidFill>
                <a:srgbClr val="FF0000"/>
              </a:solidFill>
            </a:endParaRPr>
          </a:p>
        </p:txBody>
      </p:sp>
    </p:spTree>
    <p:extLst>
      <p:ext uri="{BB962C8B-B14F-4D97-AF65-F5344CB8AC3E}">
        <p14:creationId xmlns:p14="http://schemas.microsoft.com/office/powerpoint/2010/main" val="3675352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9F11-B371-4C1F-BC62-9213DD86ABCB}"/>
              </a:ext>
            </a:extLst>
          </p:cNvPr>
          <p:cNvSpPr>
            <a:spLocks noGrp="1"/>
          </p:cNvSpPr>
          <p:nvPr>
            <p:ph type="title"/>
          </p:nvPr>
        </p:nvSpPr>
        <p:spPr/>
        <p:txBody>
          <a:bodyPr>
            <a:normAutofit fontScale="90000"/>
          </a:bodyPr>
          <a:lstStyle/>
          <a:p>
            <a:r>
              <a:rPr lang="en-US" dirty="0">
                <a:solidFill>
                  <a:srgbClr val="00B050"/>
                </a:solidFill>
              </a:rPr>
              <a:t>Training process:-</a:t>
            </a:r>
            <a:br>
              <a:rPr lang="en-US" dirty="0">
                <a:solidFill>
                  <a:srgbClr val="00B050"/>
                </a:solidFill>
              </a:rPr>
            </a:br>
            <a:br>
              <a:rPr lang="en-US" dirty="0">
                <a:solidFill>
                  <a:srgbClr val="00B050"/>
                </a:solidFill>
              </a:rPr>
            </a:br>
            <a:br>
              <a:rPr lang="en-US" dirty="0">
                <a:solidFill>
                  <a:srgbClr val="00B050"/>
                </a:solidFill>
              </a:rPr>
            </a:br>
            <a:endParaRPr lang="en-IN" dirty="0">
              <a:solidFill>
                <a:srgbClr val="00B050"/>
              </a:solidFill>
            </a:endParaRPr>
          </a:p>
        </p:txBody>
      </p:sp>
      <p:sp>
        <p:nvSpPr>
          <p:cNvPr id="3" name="Content Placeholder 2">
            <a:extLst>
              <a:ext uri="{FF2B5EF4-FFF2-40B4-BE49-F238E27FC236}">
                <a16:creationId xmlns:a16="http://schemas.microsoft.com/office/drawing/2014/main" id="{2CB78A5B-8ED0-40FB-8671-8A392CB6C3F7}"/>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US" dirty="0"/>
              <a:t> In this project we are going to use linear regression for predicting the sales prices of houses.</a:t>
            </a:r>
          </a:p>
          <a:p>
            <a:pPr>
              <a:buFont typeface="Wingdings" panose="05000000000000000000" pitchFamily="2" charset="2"/>
              <a:buChar char="q"/>
            </a:pPr>
            <a:r>
              <a:rPr lang="en-US" dirty="0"/>
              <a:t>First import all the important libraries i.e. </a:t>
            </a:r>
            <a:r>
              <a:rPr lang="en-US" dirty="0" err="1"/>
              <a:t>LinearRegression</a:t>
            </a:r>
            <a:r>
              <a:rPr lang="en-US" dirty="0"/>
              <a:t>, r2_score, confusion matrix, classification report and </a:t>
            </a:r>
            <a:r>
              <a:rPr lang="en-US" dirty="0" err="1"/>
              <a:t>train_test_split</a:t>
            </a:r>
            <a:r>
              <a:rPr lang="en-US" dirty="0"/>
              <a:t> for the training and testing of the model</a:t>
            </a:r>
            <a:r>
              <a:rPr lang="en-IN" dirty="0"/>
              <a:t>.</a:t>
            </a:r>
          </a:p>
          <a:p>
            <a:pPr>
              <a:buFont typeface="Wingdings" panose="05000000000000000000" pitchFamily="2" charset="2"/>
              <a:buChar char="q"/>
            </a:pPr>
            <a:r>
              <a:rPr lang="en-IN" dirty="0"/>
              <a:t>After getting the </a:t>
            </a:r>
            <a:r>
              <a:rPr lang="en-IN" dirty="0" err="1"/>
              <a:t>random_state</a:t>
            </a:r>
            <a:r>
              <a:rPr lang="en-IN" dirty="0"/>
              <a:t> split the data into training and testing.</a:t>
            </a:r>
          </a:p>
          <a:p>
            <a:pPr>
              <a:buFont typeface="Wingdings" panose="05000000000000000000" pitchFamily="2" charset="2"/>
              <a:buChar char="q"/>
            </a:pPr>
            <a:r>
              <a:rPr lang="en-IN" dirty="0"/>
              <a:t>Then fit the training and testing data into the model and check the accuracy score that how well it fits our data.</a:t>
            </a:r>
          </a:p>
          <a:p>
            <a:pPr>
              <a:buFont typeface="Wingdings" panose="05000000000000000000" pitchFamily="2" charset="2"/>
              <a:buChar char="q"/>
            </a:pPr>
            <a:r>
              <a:rPr lang="en-IN" dirty="0"/>
              <a:t>Then perform the cross validation and hyper parameter tunning on the model and plot the ROC AUC curve for the final accuracy.</a:t>
            </a:r>
          </a:p>
          <a:p>
            <a:pPr>
              <a:buFont typeface="Wingdings" panose="05000000000000000000" pitchFamily="2" charset="2"/>
              <a:buChar char="q"/>
            </a:pPr>
            <a:r>
              <a:rPr lang="en-IN" dirty="0"/>
              <a:t>Finally save </a:t>
            </a:r>
            <a:r>
              <a:rPr lang="en-IN" dirty="0" err="1"/>
              <a:t>tho</a:t>
            </a:r>
            <a:r>
              <a:rPr lang="en-IN" dirty="0"/>
              <a:t> model for the later prediction </a:t>
            </a:r>
            <a:r>
              <a:rPr lang="en-IN"/>
              <a:t>of the model.</a:t>
            </a:r>
            <a:endParaRPr lang="en-US"/>
          </a:p>
        </p:txBody>
      </p:sp>
    </p:spTree>
    <p:extLst>
      <p:ext uri="{BB962C8B-B14F-4D97-AF65-F5344CB8AC3E}">
        <p14:creationId xmlns:p14="http://schemas.microsoft.com/office/powerpoint/2010/main" val="331754995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84</TotalTime>
  <Words>893</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Gill Sans MT</vt:lpstr>
      <vt:lpstr>Helvetica Neue</vt:lpstr>
      <vt:lpstr>Wingdings</vt:lpstr>
      <vt:lpstr>Gallery</vt:lpstr>
      <vt:lpstr>Housing project</vt:lpstr>
      <vt:lpstr>Problem statement </vt:lpstr>
      <vt:lpstr>EDA STEPS</vt:lpstr>
      <vt:lpstr>VISUALIZATION STEPS</vt:lpstr>
      <vt:lpstr>VISUALIZATION method</vt:lpstr>
      <vt:lpstr>Training process:-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retention project</dc:title>
  <dc:creator>ankush5587@outlook.com</dc:creator>
  <cp:lastModifiedBy>ankush5587@outlook.com</cp:lastModifiedBy>
  <cp:revision>2</cp:revision>
  <dcterms:created xsi:type="dcterms:W3CDTF">2022-02-13T13:18:37Z</dcterms:created>
  <dcterms:modified xsi:type="dcterms:W3CDTF">2022-03-16T06:10:07Z</dcterms:modified>
</cp:coreProperties>
</file>