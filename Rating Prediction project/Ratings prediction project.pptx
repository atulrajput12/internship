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4" r:id="rId4"/>
    <p:sldId id="258"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B168313-3EB3-4158-9510-203E438EBF05}" type="datetimeFigureOut">
              <a:rPr lang="en-IN" smtClean="0"/>
              <a:t>01-06-2022</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8A1078FF-0E6B-4608-9136-08EF6E2AB14C}"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55387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168313-3EB3-4158-9510-203E438EBF05}" type="datetimeFigureOut">
              <a:rPr lang="en-IN" smtClean="0"/>
              <a:t>01-06-2022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1078FF-0E6B-4608-9136-08EF6E2AB14C}"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85759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168313-3EB3-4158-9510-203E438EBF05}" type="datetimeFigureOut">
              <a:rPr lang="en-IN" smtClean="0"/>
              <a:t>01-06-2022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1078FF-0E6B-4608-9136-08EF6E2AB14C}"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36536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168313-3EB3-4158-9510-203E438EBF05}" type="datetimeFigureOut">
              <a:rPr lang="en-IN" smtClean="0"/>
              <a:t>01-06-2022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A1078FF-0E6B-4608-9136-08EF6E2AB14C}"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15671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B168313-3EB3-4158-9510-203E438EBF05}" type="datetimeFigureOut">
              <a:rPr lang="en-IN" smtClean="0"/>
              <a:t>01-06-2022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A1078FF-0E6B-4608-9136-08EF6E2AB14C}"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38523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B168313-3EB3-4158-9510-203E438EBF05}" type="datetimeFigureOut">
              <a:rPr lang="en-IN" smtClean="0"/>
              <a:t>01-06-2022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A1078FF-0E6B-4608-9136-08EF6E2AB14C}"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90083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168313-3EB3-4158-9510-203E438EBF05}" type="datetimeFigureOut">
              <a:rPr lang="en-IN" smtClean="0"/>
              <a:t>01-06-2022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A1078FF-0E6B-4608-9136-08EF6E2AB14C}" type="slidenum">
              <a:rPr lang="en-IN" smtClean="0"/>
              <a:t>‹#›</a:t>
            </a:fld>
            <a:endParaRPr lang="en-IN"/>
          </a:p>
        </p:txBody>
      </p:sp>
    </p:spTree>
    <p:extLst>
      <p:ext uri="{BB962C8B-B14F-4D97-AF65-F5344CB8AC3E}">
        <p14:creationId xmlns:p14="http://schemas.microsoft.com/office/powerpoint/2010/main" val="3446413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168313-3EB3-4158-9510-203E438EBF05}" type="datetimeFigureOut">
              <a:rPr lang="en-IN" smtClean="0"/>
              <a:t>01-06-2022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A1078FF-0E6B-4608-9136-08EF6E2AB14C}"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61695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3B168313-3EB3-4158-9510-203E438EBF05}" type="datetimeFigureOut">
              <a:rPr lang="en-IN" smtClean="0"/>
              <a:t>01-06-2022</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8A1078FF-0E6B-4608-9136-08EF6E2AB14C}"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60665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168313-3EB3-4158-9510-203E438EBF05}" type="datetimeFigureOut">
              <a:rPr lang="en-IN" smtClean="0"/>
              <a:t>01-06-2022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1078FF-0E6B-4608-9136-08EF6E2AB14C}"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23957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168313-3EB3-4158-9510-203E438EBF05}" type="datetimeFigureOut">
              <a:rPr lang="en-IN" smtClean="0"/>
              <a:t>01-06-2022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1078FF-0E6B-4608-9136-08EF6E2AB14C}"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54004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3B168313-3EB3-4158-9510-203E438EBF05}" type="datetimeFigureOut">
              <a:rPr lang="en-IN" smtClean="0"/>
              <a:t>01-06-2022</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8A1078FF-0E6B-4608-9136-08EF6E2AB14C}"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47034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A13903-A604-FB97-C74D-8B2BE7DF7443}"/>
              </a:ext>
            </a:extLst>
          </p:cNvPr>
          <p:cNvSpPr>
            <a:spLocks noGrp="1"/>
          </p:cNvSpPr>
          <p:nvPr>
            <p:ph type="title"/>
          </p:nvPr>
        </p:nvSpPr>
        <p:spPr/>
        <p:txBody>
          <a:bodyPr>
            <a:normAutofit fontScale="90000"/>
          </a:bodyPr>
          <a:lstStyle/>
          <a:p>
            <a:r>
              <a:rPr lang="en-US" dirty="0"/>
              <a:t>Problem statement</a:t>
            </a:r>
            <a:br>
              <a:rPr lang="en-US" dirty="0"/>
            </a:br>
            <a:br>
              <a:rPr lang="en-US" dirty="0"/>
            </a:br>
            <a:br>
              <a:rPr lang="en-US" dirty="0"/>
            </a:br>
            <a:endParaRPr lang="en-IN" dirty="0"/>
          </a:p>
        </p:txBody>
      </p:sp>
      <p:sp>
        <p:nvSpPr>
          <p:cNvPr id="5" name="Content Placeholder 4">
            <a:extLst>
              <a:ext uri="{FF2B5EF4-FFF2-40B4-BE49-F238E27FC236}">
                <a16:creationId xmlns:a16="http://schemas.microsoft.com/office/drawing/2014/main" id="{4B332377-DEE2-DA46-11D8-6E2EC5C84480}"/>
              </a:ext>
            </a:extLst>
          </p:cNvPr>
          <p:cNvSpPr>
            <a:spLocks noGrp="1"/>
          </p:cNvSpPr>
          <p:nvPr>
            <p:ph idx="1"/>
          </p:nvPr>
        </p:nvSpPr>
        <p:spPr/>
        <p:txBody>
          <a:bodyPr>
            <a:noAutofit/>
          </a:bodyPr>
          <a:lstStyle/>
          <a:p>
            <a:pPr marL="0" indent="0" algn="l">
              <a:buNone/>
            </a:pPr>
            <a:r>
              <a:rPr lang="en-US" sz="1000" b="1" i="1" u="sng" dirty="0">
                <a:solidFill>
                  <a:srgbClr val="000000"/>
                </a:solidFill>
                <a:effectLst/>
                <a:latin typeface="Helvetica Neue"/>
              </a:rPr>
              <a:t>PROJECT</a:t>
            </a:r>
          </a:p>
          <a:p>
            <a:pPr algn="l"/>
            <a:r>
              <a:rPr lang="en-US" sz="1000" b="0" i="0" dirty="0">
                <a:solidFill>
                  <a:srgbClr val="000000"/>
                </a:solidFill>
                <a:effectLst/>
                <a:latin typeface="Helvetica Neue"/>
              </a:rPr>
              <a:t>We have a client who has a website where people write different reviews for technical products. Now they are adding a new feature to their website i.e. The reviewer will have to add stars(rating) as well with the review. The rating is out 5 stars and it only has 5 options available 1 star, 2 stars, 3 stars, 4 stars, 5 stars. Now they want to predict ratings for the reviews which were written in the past and they don’t have a rating. So, we have to build an application which can predict the rating by seeing the review.</a:t>
            </a:r>
          </a:p>
          <a:p>
            <a:pPr algn="l"/>
            <a:r>
              <a:rPr lang="en-US" sz="1000" b="0" i="0" dirty="0">
                <a:solidFill>
                  <a:srgbClr val="000000"/>
                </a:solidFill>
                <a:effectLst/>
                <a:latin typeface="Helvetica Neue"/>
              </a:rPr>
              <a:t>Data Collection Phase</a:t>
            </a:r>
          </a:p>
          <a:p>
            <a:pPr algn="l"/>
            <a:r>
              <a:rPr lang="en-US" sz="1000" b="0" i="0" dirty="0">
                <a:solidFill>
                  <a:srgbClr val="000000"/>
                </a:solidFill>
                <a:effectLst/>
                <a:latin typeface="Helvetica Neue"/>
              </a:rPr>
              <a:t>You have to scrape at least 20000 rows of data. You can scrape more data as well, it’s up to you. more the data better the model In this section you need to scrape the reviews of different laptops, Phones, Headphones, smart watches, Professional Cameras, Printers, Monitors, Home theater, Router from different ecommerce websites. Basically, we need these columns</a:t>
            </a:r>
          </a:p>
          <a:p>
            <a:pPr algn="l"/>
            <a:r>
              <a:rPr lang="en-US" sz="1000" b="0" i="0" dirty="0">
                <a:solidFill>
                  <a:srgbClr val="000000"/>
                </a:solidFill>
                <a:effectLst/>
                <a:latin typeface="Helvetica Neue"/>
              </a:rPr>
              <a:t>1) reviews of the product.</a:t>
            </a:r>
          </a:p>
          <a:p>
            <a:pPr algn="l"/>
            <a:r>
              <a:rPr lang="en-US" sz="1000" b="0" i="0" dirty="0">
                <a:solidFill>
                  <a:srgbClr val="000000"/>
                </a:solidFill>
                <a:effectLst/>
                <a:latin typeface="Helvetica Neue"/>
              </a:rPr>
              <a:t>2) rating of the product. You can fetch other data as well, if you think data can be useful or can help in the project. It completely depends on your imagination or assumption. Hint:</a:t>
            </a:r>
          </a:p>
          <a:p>
            <a:pPr algn="l"/>
            <a:r>
              <a:rPr lang="en-US" sz="1000" b="0" i="0" dirty="0">
                <a:solidFill>
                  <a:srgbClr val="000000"/>
                </a:solidFill>
                <a:effectLst/>
                <a:latin typeface="Helvetica Neue"/>
              </a:rPr>
              <a:t>• Try to fetch data from different websites. If data is from different websites, it will help our model to remove the effect of over fitting.</a:t>
            </a:r>
          </a:p>
          <a:p>
            <a:pPr algn="l"/>
            <a:r>
              <a:rPr lang="en-US" sz="1000" b="0" i="0" dirty="0">
                <a:solidFill>
                  <a:srgbClr val="000000"/>
                </a:solidFill>
                <a:effectLst/>
                <a:latin typeface="Helvetica Neue"/>
              </a:rPr>
              <a:t>• Try to fetch an equal number of reviews for each rating, for example if you are fetching 10000 reviews then all ratings 1,2,3,4,5 should be 2000. It will balance our data set.</a:t>
            </a:r>
          </a:p>
          <a:p>
            <a:pPr algn="l"/>
            <a:r>
              <a:rPr lang="en-US" sz="1000" b="0" i="0" dirty="0">
                <a:solidFill>
                  <a:srgbClr val="000000"/>
                </a:solidFill>
                <a:effectLst/>
                <a:latin typeface="Helvetica Neue"/>
              </a:rPr>
              <a:t>• Convert all the ratings to their round number, as there are only 5 options for rating i.e., 1,2,3,4,5. If a rating is 4.5 convert it 5.</a:t>
            </a:r>
          </a:p>
          <a:p>
            <a:pPr marL="0" indent="0">
              <a:lnSpc>
                <a:spcPct val="107000"/>
              </a:lnSpc>
              <a:spcAft>
                <a:spcPts val="800"/>
              </a:spcAft>
              <a:buNone/>
            </a:pPr>
            <a:r>
              <a:rPr lang="en-IN" sz="1000" dirty="0">
                <a:effectLst/>
                <a:latin typeface="Calibri" panose="020F0502020204030204" pitchFamily="34" charset="0"/>
                <a:ea typeface="Calibri" panose="020F0502020204030204" pitchFamily="34" charset="0"/>
                <a:cs typeface="Mangal" panose="02040503050203030202" pitchFamily="18" charset="0"/>
              </a:rPr>
              <a:t>. </a:t>
            </a:r>
          </a:p>
          <a:p>
            <a:endParaRPr lang="en-IN" sz="1000" dirty="0"/>
          </a:p>
        </p:txBody>
      </p:sp>
    </p:spTree>
    <p:extLst>
      <p:ext uri="{BB962C8B-B14F-4D97-AF65-F5344CB8AC3E}">
        <p14:creationId xmlns:p14="http://schemas.microsoft.com/office/powerpoint/2010/main" val="1684787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5890E-F07F-D5FD-053E-CA7D93B55FDA}"/>
              </a:ext>
            </a:extLst>
          </p:cNvPr>
          <p:cNvSpPr>
            <a:spLocks noGrp="1"/>
          </p:cNvSpPr>
          <p:nvPr>
            <p:ph type="title"/>
          </p:nvPr>
        </p:nvSpPr>
        <p:spPr/>
        <p:txBody>
          <a:bodyPr/>
          <a:lstStyle/>
          <a:p>
            <a:r>
              <a:rPr lang="en-US" dirty="0"/>
              <a:t>Problem statement</a:t>
            </a:r>
            <a:endParaRPr lang="en-IN" dirty="0"/>
          </a:p>
        </p:txBody>
      </p:sp>
      <p:sp>
        <p:nvSpPr>
          <p:cNvPr id="4" name="Rectangle 1">
            <a:extLst>
              <a:ext uri="{FF2B5EF4-FFF2-40B4-BE49-F238E27FC236}">
                <a16:creationId xmlns:a16="http://schemas.microsoft.com/office/drawing/2014/main" id="{30D821F3-4CAA-74A3-84C7-5C8CC3856970}"/>
              </a:ext>
            </a:extLst>
          </p:cNvPr>
          <p:cNvSpPr>
            <a:spLocks noGrp="1" noChangeArrowheads="1"/>
          </p:cNvSpPr>
          <p:nvPr>
            <p:ph idx="1"/>
          </p:nvPr>
        </p:nvSpPr>
        <p:spPr bwMode="auto">
          <a:xfrm>
            <a:off x="1451579" y="2365758"/>
            <a:ext cx="10472567" cy="21569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17400" tIns="158700" rIns="31740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Courier New" panose="02070309020205020404" pitchFamily="49" charset="0"/>
              </a:rPr>
              <a:t>Model Building Phase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Helvetica Neue"/>
              </a:rPr>
              <a:t>After collecting the data, you need to build a machine learning model. Before model building do all data preprocessing steps involving NLP. Try different models with different hyper parameters and select the best model.</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Helvetica Neue"/>
              </a:rPr>
              <a:t>Follow the complete life cycle of data science. Include all the steps like</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000" b="0" i="0" u="none" strike="noStrike" cap="none" normalizeH="0" baseline="0" dirty="0">
                <a:ln>
                  <a:noFill/>
                </a:ln>
                <a:solidFill>
                  <a:srgbClr val="000000"/>
                </a:solidFill>
                <a:effectLst/>
                <a:latin typeface="Helvetica Neue"/>
              </a:rPr>
              <a:t>Data Cleaning</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000" b="0" i="0" u="none" strike="noStrike" cap="none" normalizeH="0" baseline="0" dirty="0">
                <a:ln>
                  <a:noFill/>
                </a:ln>
                <a:solidFill>
                  <a:srgbClr val="000000"/>
                </a:solidFill>
                <a:effectLst/>
                <a:latin typeface="Helvetica Neue"/>
              </a:rPr>
              <a:t>Exploratory Data Analysis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000" b="0" i="0" u="none" strike="noStrike" cap="none" normalizeH="0" baseline="0" dirty="0">
                <a:ln>
                  <a:noFill/>
                </a:ln>
                <a:solidFill>
                  <a:srgbClr val="000000"/>
                </a:solidFill>
                <a:effectLst/>
                <a:latin typeface="Helvetica Neue"/>
              </a:rPr>
              <a:t>Data Preprocessing</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000" b="0" i="0" u="none" strike="noStrike" cap="none" normalizeH="0" baseline="0" dirty="0">
                <a:ln>
                  <a:noFill/>
                </a:ln>
                <a:solidFill>
                  <a:srgbClr val="000000"/>
                </a:solidFill>
                <a:effectLst/>
                <a:latin typeface="Helvetica Neue"/>
              </a:rPr>
              <a:t>Model Building</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000" b="0" i="0" u="none" strike="noStrike" cap="none" normalizeH="0" baseline="0" dirty="0">
                <a:ln>
                  <a:noFill/>
                </a:ln>
                <a:solidFill>
                  <a:srgbClr val="000000"/>
                </a:solidFill>
                <a:effectLst/>
                <a:latin typeface="Helvetica Neue"/>
              </a:rPr>
              <a:t>Model Evaluation</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000" b="0" i="0" u="none" strike="noStrike" cap="none" normalizeH="0" baseline="0" dirty="0">
                <a:ln>
                  <a:noFill/>
                </a:ln>
                <a:solidFill>
                  <a:srgbClr val="000000"/>
                </a:solidFill>
                <a:effectLst/>
                <a:latin typeface="Helvetica Neue"/>
              </a:rPr>
              <a:t>Selecting the best mode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86239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F52A8-3809-6E2C-5C97-87BF588B40A3}"/>
              </a:ext>
            </a:extLst>
          </p:cNvPr>
          <p:cNvSpPr>
            <a:spLocks noGrp="1"/>
          </p:cNvSpPr>
          <p:nvPr>
            <p:ph type="title"/>
          </p:nvPr>
        </p:nvSpPr>
        <p:spPr/>
        <p:txBody>
          <a:bodyPr/>
          <a:lstStyle/>
          <a:p>
            <a:r>
              <a:rPr lang="en-US" dirty="0"/>
              <a:t>Data scrapping</a:t>
            </a:r>
            <a:endParaRPr lang="en-IN" dirty="0"/>
          </a:p>
        </p:txBody>
      </p:sp>
      <p:sp>
        <p:nvSpPr>
          <p:cNvPr id="3" name="Content Placeholder 2">
            <a:extLst>
              <a:ext uri="{FF2B5EF4-FFF2-40B4-BE49-F238E27FC236}">
                <a16:creationId xmlns:a16="http://schemas.microsoft.com/office/drawing/2014/main" id="{AA183CA0-B32F-A4A7-31AE-BC9039BC5525}"/>
              </a:ext>
            </a:extLst>
          </p:cNvPr>
          <p:cNvSpPr>
            <a:spLocks noGrp="1"/>
          </p:cNvSpPr>
          <p:nvPr>
            <p:ph idx="1"/>
          </p:nvPr>
        </p:nvSpPr>
        <p:spPr/>
        <p:txBody>
          <a:bodyPr/>
          <a:lstStyle/>
          <a:p>
            <a:r>
              <a:rPr lang="en-US" dirty="0"/>
              <a:t>First we will import all the required libraries for the data </a:t>
            </a:r>
            <a:r>
              <a:rPr lang="en-US" dirty="0" err="1"/>
              <a:t>srapping</a:t>
            </a:r>
            <a:r>
              <a:rPr lang="en-US" dirty="0"/>
              <a:t> using selenium</a:t>
            </a:r>
          </a:p>
          <a:p>
            <a:r>
              <a:rPr lang="en-US" dirty="0"/>
              <a:t>Now we will </a:t>
            </a:r>
            <a:r>
              <a:rPr lang="en-US" dirty="0" err="1"/>
              <a:t>insatall</a:t>
            </a:r>
            <a:r>
              <a:rPr lang="en-US" dirty="0"/>
              <a:t> the chrome driver</a:t>
            </a:r>
          </a:p>
          <a:p>
            <a:r>
              <a:rPr lang="en-US" dirty="0"/>
              <a:t>After this get the </a:t>
            </a:r>
            <a:r>
              <a:rPr lang="en-US" dirty="0" err="1"/>
              <a:t>url</a:t>
            </a:r>
            <a:r>
              <a:rPr lang="en-US" dirty="0"/>
              <a:t> of the product using chrome driver</a:t>
            </a:r>
          </a:p>
          <a:p>
            <a:r>
              <a:rPr lang="en-US" dirty="0"/>
              <a:t>Now scrap all the required data (ratings and reviews) using absolute </a:t>
            </a:r>
            <a:r>
              <a:rPr lang="en-US" dirty="0" err="1"/>
              <a:t>xpath</a:t>
            </a:r>
            <a:r>
              <a:rPr lang="en-US" dirty="0"/>
              <a:t> </a:t>
            </a:r>
          </a:p>
          <a:p>
            <a:r>
              <a:rPr lang="en-US" dirty="0"/>
              <a:t>Now make the data frame of the scrapped the data</a:t>
            </a:r>
          </a:p>
          <a:p>
            <a:r>
              <a:rPr lang="en-US" dirty="0"/>
              <a:t>Now our data is ready for model building</a:t>
            </a:r>
            <a:endParaRPr lang="en-IN" dirty="0"/>
          </a:p>
        </p:txBody>
      </p:sp>
    </p:spTree>
    <p:extLst>
      <p:ext uri="{BB962C8B-B14F-4D97-AF65-F5344CB8AC3E}">
        <p14:creationId xmlns:p14="http://schemas.microsoft.com/office/powerpoint/2010/main" val="3016364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BF51C-C741-77DF-CF41-024C0708511E}"/>
              </a:ext>
            </a:extLst>
          </p:cNvPr>
          <p:cNvSpPr>
            <a:spLocks noGrp="1"/>
          </p:cNvSpPr>
          <p:nvPr>
            <p:ph type="title"/>
          </p:nvPr>
        </p:nvSpPr>
        <p:spPr/>
        <p:txBody>
          <a:bodyPr/>
          <a:lstStyle/>
          <a:p>
            <a:r>
              <a:rPr lang="en-US" dirty="0"/>
              <a:t>Model building :- </a:t>
            </a:r>
            <a:r>
              <a:rPr lang="en-US" dirty="0" err="1"/>
              <a:t>eda</a:t>
            </a:r>
            <a:r>
              <a:rPr lang="en-US" dirty="0"/>
              <a:t> steps</a:t>
            </a:r>
            <a:endParaRPr lang="en-IN" dirty="0"/>
          </a:p>
        </p:txBody>
      </p:sp>
      <p:sp>
        <p:nvSpPr>
          <p:cNvPr id="3" name="Content Placeholder 2">
            <a:extLst>
              <a:ext uri="{FF2B5EF4-FFF2-40B4-BE49-F238E27FC236}">
                <a16:creationId xmlns:a16="http://schemas.microsoft.com/office/drawing/2014/main" id="{E2DD7ADB-11A3-1400-898B-5F4A701C1BCB}"/>
              </a:ext>
            </a:extLst>
          </p:cNvPr>
          <p:cNvSpPr>
            <a:spLocks noGrp="1"/>
          </p:cNvSpPr>
          <p:nvPr>
            <p:ph idx="1"/>
          </p:nvPr>
        </p:nvSpPr>
        <p:spPr/>
        <p:txBody>
          <a:bodyPr>
            <a:normAutofit/>
          </a:bodyPr>
          <a:lstStyle/>
          <a:p>
            <a:pPr marL="45720" indent="0">
              <a:buNone/>
            </a:pPr>
            <a:r>
              <a:rPr lang="en-US" dirty="0">
                <a:solidFill>
                  <a:schemeClr val="tx2"/>
                </a:solidFill>
              </a:rPr>
              <a:t>1.Import  All the important Libraries</a:t>
            </a:r>
          </a:p>
          <a:p>
            <a:pPr marL="45720" indent="0">
              <a:buNone/>
            </a:pPr>
            <a:r>
              <a:rPr lang="en-US" dirty="0">
                <a:solidFill>
                  <a:schemeClr val="tx2"/>
                </a:solidFill>
              </a:rPr>
              <a:t>2.Load the data set which is to be used for analysis</a:t>
            </a:r>
          </a:p>
          <a:p>
            <a:pPr marL="45720" indent="0">
              <a:buNone/>
            </a:pPr>
            <a:r>
              <a:rPr lang="en-US" dirty="0">
                <a:solidFill>
                  <a:schemeClr val="tx2"/>
                </a:solidFill>
              </a:rPr>
              <a:t>3.Check for the null values in the dataset</a:t>
            </a:r>
          </a:p>
          <a:p>
            <a:pPr lvl="1" algn="just">
              <a:buFont typeface="Wingdings" panose="05000000000000000000" pitchFamily="2" charset="2"/>
              <a:buChar char="Ø"/>
            </a:pPr>
            <a:r>
              <a:rPr lang="en-US" dirty="0">
                <a:solidFill>
                  <a:schemeClr val="tx2"/>
                </a:solidFill>
              </a:rPr>
              <a:t>If there are null values fill them using </a:t>
            </a:r>
            <a:r>
              <a:rPr lang="en-US" dirty="0" err="1">
                <a:solidFill>
                  <a:schemeClr val="tx2"/>
                </a:solidFill>
              </a:rPr>
              <a:t>fillna</a:t>
            </a:r>
            <a:r>
              <a:rPr lang="en-US" dirty="0">
                <a:solidFill>
                  <a:schemeClr val="tx2"/>
                </a:solidFill>
              </a:rPr>
              <a:t> method</a:t>
            </a:r>
          </a:p>
          <a:p>
            <a:pPr marL="45720" indent="0" algn="just">
              <a:buNone/>
            </a:pPr>
            <a:r>
              <a:rPr lang="en-US" dirty="0">
                <a:solidFill>
                  <a:schemeClr val="tx2"/>
                </a:solidFill>
              </a:rPr>
              <a:t>4. Check data description</a:t>
            </a:r>
          </a:p>
          <a:p>
            <a:pPr lvl="1" algn="just">
              <a:buFont typeface="Wingdings" panose="05000000000000000000" pitchFamily="2" charset="2"/>
              <a:buChar char="q"/>
            </a:pPr>
            <a:r>
              <a:rPr lang="en-IN" dirty="0">
                <a:solidFill>
                  <a:schemeClr val="tx2"/>
                </a:solidFill>
              </a:rPr>
              <a:t> data description show full description of every column like:- std,mean,median,25% of the column and some other important information about every columns</a:t>
            </a:r>
          </a:p>
          <a:p>
            <a:pPr marL="457200" lvl="1" indent="0" algn="just">
              <a:buNone/>
            </a:pPr>
            <a:endParaRPr lang="en-IN" dirty="0">
              <a:solidFill>
                <a:schemeClr val="tx2"/>
              </a:solidFill>
            </a:endParaRPr>
          </a:p>
          <a:p>
            <a:pPr marL="0" indent="0">
              <a:buNone/>
            </a:pPr>
            <a:endParaRPr lang="en-IN" dirty="0"/>
          </a:p>
          <a:p>
            <a:endParaRPr lang="en-IN" dirty="0"/>
          </a:p>
        </p:txBody>
      </p:sp>
    </p:spTree>
    <p:extLst>
      <p:ext uri="{BB962C8B-B14F-4D97-AF65-F5344CB8AC3E}">
        <p14:creationId xmlns:p14="http://schemas.microsoft.com/office/powerpoint/2010/main" val="2469755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9265B-ED99-0876-0021-1E37D7B0C255}"/>
              </a:ext>
            </a:extLst>
          </p:cNvPr>
          <p:cNvSpPr>
            <a:spLocks noGrp="1"/>
          </p:cNvSpPr>
          <p:nvPr>
            <p:ph type="title"/>
          </p:nvPr>
        </p:nvSpPr>
        <p:spPr/>
        <p:txBody>
          <a:bodyPr/>
          <a:lstStyle/>
          <a:p>
            <a:r>
              <a:rPr lang="en-US" dirty="0"/>
              <a:t>Data cleaning</a:t>
            </a:r>
            <a:endParaRPr lang="en-IN" dirty="0"/>
          </a:p>
        </p:txBody>
      </p:sp>
      <p:sp>
        <p:nvSpPr>
          <p:cNvPr id="3" name="Content Placeholder 2">
            <a:extLst>
              <a:ext uri="{FF2B5EF4-FFF2-40B4-BE49-F238E27FC236}">
                <a16:creationId xmlns:a16="http://schemas.microsoft.com/office/drawing/2014/main" id="{83D0B043-3D3D-1995-4031-3070D5F112D6}"/>
              </a:ext>
            </a:extLst>
          </p:cNvPr>
          <p:cNvSpPr>
            <a:spLocks noGrp="1"/>
          </p:cNvSpPr>
          <p:nvPr>
            <p:ph idx="1"/>
          </p:nvPr>
        </p:nvSpPr>
        <p:spPr/>
        <p:txBody>
          <a:bodyPr/>
          <a:lstStyle/>
          <a:p>
            <a:r>
              <a:rPr lang="en-US" dirty="0"/>
              <a:t>Import some other required libraries like </a:t>
            </a:r>
            <a:r>
              <a:rPr lang="en-US" dirty="0" err="1"/>
              <a:t>wordlemmatizer</a:t>
            </a:r>
            <a:r>
              <a:rPr lang="en-US" dirty="0"/>
              <a:t>, import </a:t>
            </a:r>
            <a:r>
              <a:rPr lang="en-US" dirty="0" err="1"/>
              <a:t>stopwords</a:t>
            </a:r>
            <a:r>
              <a:rPr lang="en-US" dirty="0"/>
              <a:t> and string</a:t>
            </a:r>
          </a:p>
          <a:p>
            <a:r>
              <a:rPr lang="en-US" dirty="0"/>
              <a:t>After this replace the hyperlinks , special character , and some other things with their </a:t>
            </a:r>
            <a:r>
              <a:rPr lang="en-US" dirty="0" err="1"/>
              <a:t>respectives</a:t>
            </a:r>
            <a:r>
              <a:rPr lang="en-US" dirty="0"/>
              <a:t> and change all the text to lower case</a:t>
            </a:r>
          </a:p>
          <a:p>
            <a:r>
              <a:rPr lang="en-US" dirty="0"/>
              <a:t>After all this import the library </a:t>
            </a:r>
            <a:r>
              <a:rPr lang="en-US" dirty="0" err="1"/>
              <a:t>wordcloud</a:t>
            </a:r>
            <a:r>
              <a:rPr lang="en-US" dirty="0"/>
              <a:t> and print the </a:t>
            </a:r>
            <a:r>
              <a:rPr lang="en-US" dirty="0" err="1"/>
              <a:t>oftenly</a:t>
            </a:r>
            <a:r>
              <a:rPr lang="en-US" dirty="0"/>
              <a:t> using offensive word</a:t>
            </a:r>
          </a:p>
          <a:p>
            <a:r>
              <a:rPr lang="en-US" dirty="0"/>
              <a:t>Bigger the word means more use of word and lesser the word means less use of words</a:t>
            </a:r>
            <a:endParaRPr lang="en-IN" dirty="0"/>
          </a:p>
        </p:txBody>
      </p:sp>
    </p:spTree>
    <p:extLst>
      <p:ext uri="{BB962C8B-B14F-4D97-AF65-F5344CB8AC3E}">
        <p14:creationId xmlns:p14="http://schemas.microsoft.com/office/powerpoint/2010/main" val="1427334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4732F-F889-7110-6FB4-599EF8F2393A}"/>
              </a:ext>
            </a:extLst>
          </p:cNvPr>
          <p:cNvSpPr>
            <a:spLocks noGrp="1"/>
          </p:cNvSpPr>
          <p:nvPr>
            <p:ph type="title"/>
          </p:nvPr>
        </p:nvSpPr>
        <p:spPr/>
        <p:txBody>
          <a:bodyPr/>
          <a:lstStyle/>
          <a:p>
            <a:r>
              <a:rPr lang="en-US" dirty="0"/>
              <a:t>Model training</a:t>
            </a:r>
            <a:endParaRPr lang="en-IN" dirty="0"/>
          </a:p>
        </p:txBody>
      </p:sp>
      <p:sp>
        <p:nvSpPr>
          <p:cNvPr id="3" name="Content Placeholder 2">
            <a:extLst>
              <a:ext uri="{FF2B5EF4-FFF2-40B4-BE49-F238E27FC236}">
                <a16:creationId xmlns:a16="http://schemas.microsoft.com/office/drawing/2014/main" id="{4C4DBA9B-B8D6-F7D9-BFE6-3ACC7A18615D}"/>
              </a:ext>
            </a:extLst>
          </p:cNvPr>
          <p:cNvSpPr>
            <a:spLocks noGrp="1"/>
          </p:cNvSpPr>
          <p:nvPr>
            <p:ph idx="1"/>
          </p:nvPr>
        </p:nvSpPr>
        <p:spPr/>
        <p:txBody>
          <a:bodyPr>
            <a:normAutofit lnSpcReduction="10000"/>
          </a:bodyPr>
          <a:lstStyle/>
          <a:p>
            <a:r>
              <a:rPr lang="en-US" dirty="0"/>
              <a:t>Now import all the required libraries for the model training</a:t>
            </a:r>
          </a:p>
          <a:p>
            <a:r>
              <a:rPr lang="en-US" dirty="0"/>
              <a:t>After importing libraries change the text into vectors using </a:t>
            </a:r>
            <a:r>
              <a:rPr lang="en-US" dirty="0" err="1"/>
              <a:t>Tf-idf</a:t>
            </a:r>
            <a:r>
              <a:rPr lang="en-US" dirty="0"/>
              <a:t> vectorizer and then split the dataset into train and test split</a:t>
            </a:r>
          </a:p>
          <a:p>
            <a:r>
              <a:rPr lang="en-US" dirty="0"/>
              <a:t>Then implement the classification model on the dataset like:-linear regression, decision tree classifier, random forest classifier etc.</a:t>
            </a:r>
          </a:p>
          <a:p>
            <a:r>
              <a:rPr lang="en-US" dirty="0"/>
              <a:t>Now plot the graph which tells us about the area under curve , more the area under curve more will be the better prediction model is performing better</a:t>
            </a:r>
          </a:p>
          <a:p>
            <a:r>
              <a:rPr lang="en-US" dirty="0"/>
              <a:t>After this using trained model predict for the test dataset and save </a:t>
            </a:r>
            <a:r>
              <a:rPr lang="en-US"/>
              <a:t>the model </a:t>
            </a:r>
            <a:endParaRPr lang="en-US" dirty="0"/>
          </a:p>
          <a:p>
            <a:endParaRPr lang="en-IN" dirty="0"/>
          </a:p>
        </p:txBody>
      </p:sp>
    </p:spTree>
    <p:extLst>
      <p:ext uri="{BB962C8B-B14F-4D97-AF65-F5344CB8AC3E}">
        <p14:creationId xmlns:p14="http://schemas.microsoft.com/office/powerpoint/2010/main" val="2291724533"/>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33</TotalTime>
  <Words>727</Words>
  <Application>Microsoft Office PowerPoint</Application>
  <PresentationFormat>Widescreen</PresentationFormat>
  <Paragraphs>48</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Calibri</vt:lpstr>
      <vt:lpstr>Courier New</vt:lpstr>
      <vt:lpstr>Gill Sans MT</vt:lpstr>
      <vt:lpstr>Helvetica Neue</vt:lpstr>
      <vt:lpstr>Wingdings</vt:lpstr>
      <vt:lpstr>Gallery</vt:lpstr>
      <vt:lpstr>Problem statement   </vt:lpstr>
      <vt:lpstr>Problem statement</vt:lpstr>
      <vt:lpstr>Data scrapping</vt:lpstr>
      <vt:lpstr>Model building :- eda steps</vt:lpstr>
      <vt:lpstr>Data cleaning</vt:lpstr>
      <vt:lpstr>Model training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dc:title>
  <dc:creator>ankush5587@outlook.com</dc:creator>
  <cp:lastModifiedBy>ankush5587@outlook.com</cp:lastModifiedBy>
  <cp:revision>2</cp:revision>
  <dcterms:created xsi:type="dcterms:W3CDTF">2022-05-21T04:30:40Z</dcterms:created>
  <dcterms:modified xsi:type="dcterms:W3CDTF">2022-06-01T05:49:49Z</dcterms:modified>
</cp:coreProperties>
</file>