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A70F5F-83EC-4B0D-A63F-B0C4459A4BF4}" type="datetimeFigureOut">
              <a:rPr lang="en-IN" smtClean="0"/>
              <a:t>18-04-2022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3618547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EA70F5F-83EC-4B0D-A63F-B0C4459A4BF4}" type="datetimeFigureOut">
              <a:rPr lang="en-IN" smtClean="0"/>
              <a:t>18-04-2022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639496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A70F5F-83EC-4B0D-A63F-B0C4459A4BF4}" type="datetimeFigureOut">
              <a:rPr lang="en-IN" smtClean="0"/>
              <a:t>18-04-2022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3031884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A70F5F-83EC-4B0D-A63F-B0C4459A4BF4}" type="datetimeFigureOut">
              <a:rPr lang="en-IN" smtClean="0"/>
              <a:t>18-04-2022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1598759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A70F5F-83EC-4B0D-A63F-B0C4459A4BF4}" type="datetimeFigureOut">
              <a:rPr lang="en-IN" smtClean="0"/>
              <a:t>18-04-2022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3908090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EA70F5F-83EC-4B0D-A63F-B0C4459A4BF4}" type="datetimeFigureOut">
              <a:rPr lang="en-IN" smtClean="0"/>
              <a:t>18-04-2022</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3122071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EA70F5F-83EC-4B0D-A63F-B0C4459A4BF4}" type="datetimeFigureOut">
              <a:rPr lang="en-IN" smtClean="0"/>
              <a:t>18-04-2022</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404795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EA70F5F-83EC-4B0D-A63F-B0C4459A4BF4}" type="datetimeFigureOut">
              <a:rPr lang="en-IN" smtClean="0"/>
              <a:t>18-04-2022</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1868972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A70F5F-83EC-4B0D-A63F-B0C4459A4BF4}" type="datetimeFigureOut">
              <a:rPr lang="en-IN" smtClean="0"/>
              <a:t>18-04-2022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3016406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A70F5F-83EC-4B0D-A63F-B0C4459A4BF4}" type="datetimeFigureOut">
              <a:rPr lang="en-IN" smtClean="0"/>
              <a:t>18-04-2022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2783447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EA70F5F-83EC-4B0D-A63F-B0C4459A4BF4}" type="datetimeFigureOut">
              <a:rPr lang="en-IN" smtClean="0"/>
              <a:t>18-04-2022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856406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EA70F5F-83EC-4B0D-A63F-B0C4459A4BF4}" type="datetimeFigureOut">
              <a:rPr lang="en-IN" smtClean="0"/>
              <a:t>18-04-2022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5F39BD-56C9-4A5B-9802-E38DF39D2986}"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436296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A70F5F-83EC-4B0D-A63F-B0C4459A4BF4}" type="datetimeFigureOut">
              <a:rPr lang="en-IN" smtClean="0"/>
              <a:t>18-04-2022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42690387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EA70F5F-83EC-4B0D-A63F-B0C4459A4BF4}" type="datetimeFigureOut">
              <a:rPr lang="en-IN" smtClean="0"/>
              <a:t>18-04-2022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1918157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EA70F5F-83EC-4B0D-A63F-B0C4459A4BF4}" type="datetimeFigureOut">
              <a:rPr lang="en-IN" smtClean="0"/>
              <a:t>18-04-2022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13488133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A70F5F-83EC-4B0D-A63F-B0C4459A4BF4}" type="datetimeFigureOut">
              <a:rPr lang="en-IN" smtClean="0"/>
              <a:t>18-04-2022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20740397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A70F5F-83EC-4B0D-A63F-B0C4459A4BF4}" type="datetimeFigureOut">
              <a:rPr lang="en-IN" smtClean="0"/>
              <a:t>18-04-2022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5F39BD-56C9-4A5B-9802-E38DF39D2986}" type="slidenum">
              <a:rPr lang="en-IN" smtClean="0"/>
              <a:t>‹#›</a:t>
            </a:fld>
            <a:endParaRPr lang="en-IN"/>
          </a:p>
        </p:txBody>
      </p:sp>
    </p:spTree>
    <p:extLst>
      <p:ext uri="{BB962C8B-B14F-4D97-AF65-F5344CB8AC3E}">
        <p14:creationId xmlns:p14="http://schemas.microsoft.com/office/powerpoint/2010/main" val="1836634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EA70F5F-83EC-4B0D-A63F-B0C4459A4BF4}" type="datetimeFigureOut">
              <a:rPr lang="en-IN" smtClean="0"/>
              <a:t>18-04-2022</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95F39BD-56C9-4A5B-9802-E38DF39D2986}" type="slidenum">
              <a:rPr lang="en-IN" smtClean="0"/>
              <a:t>‹#›</a:t>
            </a:fld>
            <a:endParaRPr lang="en-IN"/>
          </a:p>
        </p:txBody>
      </p:sp>
    </p:spTree>
    <p:extLst>
      <p:ext uri="{BB962C8B-B14F-4D97-AF65-F5344CB8AC3E}">
        <p14:creationId xmlns:p14="http://schemas.microsoft.com/office/powerpoint/2010/main" val="1332260240"/>
      </p:ext>
    </p:extLst>
  </p:cSld>
  <p:clrMap bg1="dk1" tx1="lt1" bg2="dk2" tx2="lt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D00DFF-791E-4AA3-9105-551F10EB9848}"/>
              </a:ext>
            </a:extLst>
          </p:cNvPr>
          <p:cNvSpPr>
            <a:spLocks noGrp="1"/>
          </p:cNvSpPr>
          <p:nvPr>
            <p:ph type="title"/>
          </p:nvPr>
        </p:nvSpPr>
        <p:spPr/>
        <p:txBody>
          <a:bodyPr/>
          <a:lstStyle/>
          <a:p>
            <a:r>
              <a:rPr lang="en-US" dirty="0"/>
              <a:t>Micro credit defaulter project</a:t>
            </a:r>
            <a:endParaRPr lang="en-IN" dirty="0"/>
          </a:p>
        </p:txBody>
      </p:sp>
      <p:sp>
        <p:nvSpPr>
          <p:cNvPr id="5" name="Content Placeholder 4">
            <a:extLst>
              <a:ext uri="{FF2B5EF4-FFF2-40B4-BE49-F238E27FC236}">
                <a16:creationId xmlns:a16="http://schemas.microsoft.com/office/drawing/2014/main" id="{0F525285-22AE-4372-A87B-4BC3DAC456D5}"/>
              </a:ext>
            </a:extLst>
          </p:cNvPr>
          <p:cNvSpPr>
            <a:spLocks noGrp="1"/>
          </p:cNvSpPr>
          <p:nvPr>
            <p:ph idx="1"/>
          </p:nvPr>
        </p:nvSpPr>
        <p:spPr/>
        <p:txBody>
          <a:bodyPr>
            <a:normAutofit fontScale="47500" lnSpcReduction="20000"/>
          </a:bodyPr>
          <a:lstStyle/>
          <a:p>
            <a:r>
              <a:rPr lang="en-US" dirty="0"/>
              <a:t># PROBLEM STATEMENT</a:t>
            </a:r>
          </a:p>
          <a:p>
            <a:endParaRPr lang="en-US" dirty="0"/>
          </a:p>
          <a:p>
            <a:r>
              <a:rPr lang="en-US" dirty="0"/>
              <a:t>A Microfinance Institution (MFI) is an organization that offers financial services to low income populations. MFS becomes very useful when targeting especially the unbanked poor families living in remote areas with not much sources of income. The Microfinance services (MFS) provided by MFI are Group Loans, Agricultural Loans, Individual Business Loans and so on. </a:t>
            </a:r>
          </a:p>
          <a:p>
            <a:r>
              <a:rPr lang="en-US" dirty="0"/>
              <a:t>Many microfinance institutions (MFI), experts and donors are supporting the idea of using mobile financial services (MFS) which they feel are more convenient and efficient, and cost saving, than the traditional high-touch model used since long for the purpose of delivering microfinance services. Though, the MFI industry is primarily focusing on low income families and are very useful in such areas, the implementation of MFS has been uneven with both significant challenges and successes.</a:t>
            </a:r>
          </a:p>
          <a:p>
            <a:r>
              <a:rPr lang="en-US" dirty="0"/>
              <a:t>Today, microfinance is widely accepted as a poverty-reduction tool, representing $70 billion in outstanding loans and a global outreach of 200 million clients.</a:t>
            </a:r>
          </a:p>
          <a:p>
            <a:r>
              <a:rPr lang="en-US" dirty="0"/>
              <a:t>We are working with one such client that is in Telecom Industry. They are a fixed wireless telecommunications network provider. They have launched various products and have developed its business and organization based on the budget operator model, offering better products at Lower Prices to all value conscious customers through a strategy of disruptive innovation that focuses on the subscriber. </a:t>
            </a:r>
          </a:p>
          <a:p>
            <a:r>
              <a:rPr lang="en-US" dirty="0"/>
              <a:t>They understand the importance of communication and how it affects a person’s life, thus, focusing on providing their services and products to low income families and poor customers that can help them in the need of hour. </a:t>
            </a:r>
          </a:p>
          <a:p>
            <a:r>
              <a:rPr lang="en-US" dirty="0"/>
              <a:t>They are collaborating with an MFI to provide micro-credit on mobile balances to be paid back in 5 days. The Consumer is believed to be defaulter if he deviates from the path of paying back the loaned amount within the time duration of 5 days. For the loan amount of 5 (in Indonesian Rupiah), payback amount should be 6 (in Indonesian Rupiah), while, for the loan amount of 10 (in Indonesian Rupiah), the payback amount should be 12 (in Indonesian Rupiah). </a:t>
            </a:r>
          </a:p>
          <a:p>
            <a:r>
              <a:rPr lang="en-US" dirty="0"/>
              <a:t>The sample data is provided to us from our client database. It is hereby given to you for this exercise. In order to improve the selection of customers for the credit, the client wants some predictions that could help them in further investment and improvement in selection of customers. </a:t>
            </a:r>
          </a:p>
          <a:p>
            <a:endParaRPr lang="en-US" dirty="0"/>
          </a:p>
        </p:txBody>
      </p:sp>
    </p:spTree>
    <p:extLst>
      <p:ext uri="{BB962C8B-B14F-4D97-AF65-F5344CB8AC3E}">
        <p14:creationId xmlns:p14="http://schemas.microsoft.com/office/powerpoint/2010/main" val="1474026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BE709-D61F-459F-BB7E-0DB09C5FC699}"/>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1072AE52-02AE-4C53-A1AE-478ACF1FE3D5}"/>
              </a:ext>
            </a:extLst>
          </p:cNvPr>
          <p:cNvSpPr>
            <a:spLocks noGrp="1"/>
          </p:cNvSpPr>
          <p:nvPr>
            <p:ph idx="1"/>
          </p:nvPr>
        </p:nvSpPr>
        <p:spPr/>
        <p:txBody>
          <a:bodyPr>
            <a:normAutofit fontScale="25000" lnSpcReduction="20000"/>
          </a:bodyPr>
          <a:lstStyle/>
          <a:p>
            <a:pPr marL="0" indent="0">
              <a:buNone/>
            </a:pPr>
            <a:r>
              <a:rPr lang="en-US" sz="5600" dirty="0"/>
              <a:t>Build a model which can be used to predict in terms of a probability for each loan transaction, whether the customer will be paying back the loaned amount within 5 days of insurance of loan. In this case, Label ‘1’ indicates that the loan has been </a:t>
            </a:r>
            <a:r>
              <a:rPr lang="en-US" sz="5600" dirty="0" err="1"/>
              <a:t>payed</a:t>
            </a:r>
            <a:r>
              <a:rPr lang="en-US" sz="5600" dirty="0"/>
              <a:t> i.e. Non- defaulter, while, Label ‘0’ indicates that the loan has not been </a:t>
            </a:r>
            <a:r>
              <a:rPr lang="en-US" sz="5600" dirty="0" err="1"/>
              <a:t>payed</a:t>
            </a:r>
            <a:r>
              <a:rPr lang="en-US" sz="5600" dirty="0"/>
              <a:t> i.e. defaulter.  </a:t>
            </a:r>
          </a:p>
          <a:p>
            <a:pPr marL="0" indent="0">
              <a:buNone/>
            </a:pPr>
            <a:r>
              <a:rPr lang="en-US" sz="5600" b="1" i="1" u="sng" dirty="0"/>
              <a:t>Points to Remember</a:t>
            </a:r>
            <a:r>
              <a:rPr lang="en-US" sz="5600" dirty="0"/>
              <a:t>:-</a:t>
            </a:r>
          </a:p>
          <a:p>
            <a:r>
              <a:rPr lang="en-US" sz="5600" dirty="0"/>
              <a:t>	There are no null values in the dataset. </a:t>
            </a:r>
          </a:p>
          <a:p>
            <a:r>
              <a:rPr lang="en-US" sz="5600" dirty="0"/>
              <a:t>	There may be some customers with no loan history. </a:t>
            </a:r>
          </a:p>
          <a:p>
            <a:r>
              <a:rPr lang="en-US" sz="5600" dirty="0"/>
              <a:t>The dataset is imbalanced. Label ‘1’ has approximately 87.5% records, while, label ‘0’ has approximately 12.5% records.</a:t>
            </a:r>
          </a:p>
          <a:p>
            <a:r>
              <a:rPr lang="en-US" sz="5600" dirty="0"/>
              <a:t>For some features, there may be values which might not be realistic. You may have to observe them and treat them with a suitable explanation.</a:t>
            </a:r>
          </a:p>
          <a:p>
            <a:r>
              <a:rPr lang="en-US" sz="5600" dirty="0"/>
              <a:t>	You might come across outliers in some features which you need to handle as per your understanding. Keep in mind that data is expensive and we cannot lose more than 7-8% of the data. </a:t>
            </a:r>
          </a:p>
          <a:p>
            <a:endParaRPr lang="en-US" sz="5600" dirty="0"/>
          </a:p>
          <a:p>
            <a:r>
              <a:rPr lang="en-US" sz="5600" dirty="0"/>
              <a:t>Find Enclosed the Data Description File and The Sample Data for the Modeling Exercise.</a:t>
            </a:r>
          </a:p>
          <a:p>
            <a:endParaRPr lang="en-IN" sz="7200" dirty="0"/>
          </a:p>
        </p:txBody>
      </p:sp>
    </p:spTree>
    <p:extLst>
      <p:ext uri="{BB962C8B-B14F-4D97-AF65-F5344CB8AC3E}">
        <p14:creationId xmlns:p14="http://schemas.microsoft.com/office/powerpoint/2010/main" val="544702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FD141-3F47-42BD-9D59-AF4AD6F8851A}"/>
              </a:ext>
            </a:extLst>
          </p:cNvPr>
          <p:cNvSpPr>
            <a:spLocks noGrp="1"/>
          </p:cNvSpPr>
          <p:nvPr>
            <p:ph type="title"/>
          </p:nvPr>
        </p:nvSpPr>
        <p:spPr/>
        <p:txBody>
          <a:bodyPr/>
          <a:lstStyle/>
          <a:p>
            <a:r>
              <a:rPr lang="en-US" dirty="0"/>
              <a:t>EDA Steps</a:t>
            </a:r>
            <a:endParaRPr lang="en-IN" dirty="0"/>
          </a:p>
        </p:txBody>
      </p:sp>
      <p:sp>
        <p:nvSpPr>
          <p:cNvPr id="3" name="Content Placeholder 2">
            <a:extLst>
              <a:ext uri="{FF2B5EF4-FFF2-40B4-BE49-F238E27FC236}">
                <a16:creationId xmlns:a16="http://schemas.microsoft.com/office/drawing/2014/main" id="{E1C6AE63-0480-4CA9-A12B-6BA2250C741C}"/>
              </a:ext>
            </a:extLst>
          </p:cNvPr>
          <p:cNvSpPr>
            <a:spLocks noGrp="1"/>
          </p:cNvSpPr>
          <p:nvPr>
            <p:ph idx="1"/>
          </p:nvPr>
        </p:nvSpPr>
        <p:spPr/>
        <p:txBody>
          <a:bodyPr/>
          <a:lstStyle/>
          <a:p>
            <a:pPr marL="45720" indent="0">
              <a:buNone/>
            </a:pPr>
            <a:r>
              <a:rPr lang="en-US" dirty="0">
                <a:solidFill>
                  <a:srgbClr val="FFC000"/>
                </a:solidFill>
              </a:rPr>
              <a:t>1.Import  All the important Libraries</a:t>
            </a:r>
          </a:p>
          <a:p>
            <a:pPr marL="45720" indent="0">
              <a:buNone/>
            </a:pPr>
            <a:r>
              <a:rPr lang="en-US" dirty="0">
                <a:solidFill>
                  <a:srgbClr val="FFC000"/>
                </a:solidFill>
              </a:rPr>
              <a:t>2.Load the data set which is to be used for analysis</a:t>
            </a:r>
          </a:p>
          <a:p>
            <a:pPr marL="45720" indent="0">
              <a:buNone/>
            </a:pPr>
            <a:r>
              <a:rPr lang="en-US" dirty="0">
                <a:solidFill>
                  <a:srgbClr val="FFC000"/>
                </a:solidFill>
              </a:rPr>
              <a:t>3.Check for the null values in the dataset</a:t>
            </a:r>
          </a:p>
          <a:p>
            <a:pPr lvl="1" algn="just">
              <a:buFont typeface="Wingdings" panose="05000000000000000000" pitchFamily="2" charset="2"/>
              <a:buChar char="Ø"/>
            </a:pPr>
            <a:r>
              <a:rPr lang="en-US" dirty="0">
                <a:solidFill>
                  <a:srgbClr val="FFC000"/>
                </a:solidFill>
              </a:rPr>
              <a:t>If there are null values fill them using </a:t>
            </a:r>
            <a:r>
              <a:rPr lang="en-US" dirty="0" err="1">
                <a:solidFill>
                  <a:srgbClr val="FFC000"/>
                </a:solidFill>
              </a:rPr>
              <a:t>fillna</a:t>
            </a:r>
            <a:r>
              <a:rPr lang="en-US" dirty="0">
                <a:solidFill>
                  <a:srgbClr val="FFC000"/>
                </a:solidFill>
              </a:rPr>
              <a:t> method</a:t>
            </a:r>
          </a:p>
          <a:p>
            <a:pPr marL="45720" indent="0" algn="just">
              <a:buNone/>
            </a:pPr>
            <a:r>
              <a:rPr lang="en-US" dirty="0">
                <a:solidFill>
                  <a:srgbClr val="FFC000"/>
                </a:solidFill>
              </a:rPr>
              <a:t>4. Check data description</a:t>
            </a:r>
          </a:p>
          <a:p>
            <a:pPr lvl="1" algn="just">
              <a:buFont typeface="Wingdings" panose="05000000000000000000" pitchFamily="2" charset="2"/>
              <a:buChar char="q"/>
            </a:pPr>
            <a:r>
              <a:rPr lang="en-IN" dirty="0">
                <a:solidFill>
                  <a:srgbClr val="FFC000"/>
                </a:solidFill>
              </a:rPr>
              <a:t> data description show full description of every column like:- std,mean,median,25% of the column and some other important information about every columns</a:t>
            </a:r>
          </a:p>
          <a:p>
            <a:endParaRPr lang="en-IN" dirty="0"/>
          </a:p>
        </p:txBody>
      </p:sp>
    </p:spTree>
    <p:extLst>
      <p:ext uri="{BB962C8B-B14F-4D97-AF65-F5344CB8AC3E}">
        <p14:creationId xmlns:p14="http://schemas.microsoft.com/office/powerpoint/2010/main" val="345928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7084F-991B-4A3C-A37E-122F4338E8DE}"/>
              </a:ext>
            </a:extLst>
          </p:cNvPr>
          <p:cNvSpPr>
            <a:spLocks noGrp="1"/>
          </p:cNvSpPr>
          <p:nvPr>
            <p:ph type="title"/>
          </p:nvPr>
        </p:nvSpPr>
        <p:spPr/>
        <p:txBody>
          <a:bodyPr/>
          <a:lstStyle/>
          <a:p>
            <a:r>
              <a:rPr lang="en-US" dirty="0"/>
              <a:t>VISUALIZATION STEPS</a:t>
            </a:r>
            <a:endParaRPr lang="en-IN" dirty="0"/>
          </a:p>
        </p:txBody>
      </p:sp>
      <p:sp>
        <p:nvSpPr>
          <p:cNvPr id="3" name="Content Placeholder 2">
            <a:extLst>
              <a:ext uri="{FF2B5EF4-FFF2-40B4-BE49-F238E27FC236}">
                <a16:creationId xmlns:a16="http://schemas.microsoft.com/office/drawing/2014/main" id="{BB717EB8-C95B-4546-856D-2BF3C1D74D9A}"/>
              </a:ext>
            </a:extLst>
          </p:cNvPr>
          <p:cNvSpPr>
            <a:spLocks noGrp="1"/>
          </p:cNvSpPr>
          <p:nvPr>
            <p:ph idx="1"/>
          </p:nvPr>
        </p:nvSpPr>
        <p:spPr/>
        <p:txBody>
          <a:bodyPr>
            <a:normAutofit fontScale="92500" lnSpcReduction="10000"/>
          </a:bodyPr>
          <a:lstStyle/>
          <a:p>
            <a:pPr>
              <a:buFont typeface="Wingdings" panose="05000000000000000000" pitchFamily="2" charset="2"/>
              <a:buChar char="v"/>
            </a:pPr>
            <a:r>
              <a:rPr lang="en-US" dirty="0">
                <a:solidFill>
                  <a:srgbClr val="FFC000"/>
                </a:solidFill>
              </a:rPr>
              <a:t>Check for correlation in the columns using heatmap or other techniques</a:t>
            </a:r>
          </a:p>
          <a:p>
            <a:pPr lvl="1" algn="just">
              <a:buFont typeface="Wingdings" panose="05000000000000000000" pitchFamily="2" charset="2"/>
              <a:buChar char="q"/>
            </a:pPr>
            <a:r>
              <a:rPr lang="en-US" dirty="0">
                <a:solidFill>
                  <a:srgbClr val="FFC000"/>
                </a:solidFill>
              </a:rPr>
              <a:t>Using correlation we can check that if any columns having high correlation with each other</a:t>
            </a:r>
            <a:r>
              <a:rPr lang="en-IN" dirty="0">
                <a:solidFill>
                  <a:srgbClr val="FFC000"/>
                </a:solidFill>
              </a:rPr>
              <a:t> we can remove one of them</a:t>
            </a:r>
            <a:endParaRPr lang="en-US" dirty="0">
              <a:solidFill>
                <a:srgbClr val="FFC000"/>
              </a:solidFill>
            </a:endParaRPr>
          </a:p>
          <a:p>
            <a:pPr>
              <a:buFont typeface="Wingdings" panose="05000000000000000000" pitchFamily="2" charset="2"/>
              <a:buChar char="v"/>
            </a:pPr>
            <a:r>
              <a:rPr lang="en-IN" dirty="0">
                <a:solidFill>
                  <a:srgbClr val="FFC000"/>
                </a:solidFill>
              </a:rPr>
              <a:t> After checking correlation we plot the graph for data distribution among all the columns</a:t>
            </a:r>
          </a:p>
          <a:p>
            <a:pPr>
              <a:buFont typeface="Wingdings" panose="05000000000000000000" pitchFamily="2" charset="2"/>
              <a:buChar char="v"/>
            </a:pPr>
            <a:r>
              <a:rPr lang="en-IN" dirty="0">
                <a:solidFill>
                  <a:srgbClr val="FFC000"/>
                </a:solidFill>
              </a:rPr>
              <a:t> With the help of data distribution graph we can see that data is distributed well or not , if not distributed well we can check skewness using </a:t>
            </a:r>
            <a:r>
              <a:rPr lang="en-IN" dirty="0" err="1">
                <a:solidFill>
                  <a:srgbClr val="FFC000"/>
                </a:solidFill>
              </a:rPr>
              <a:t>data.skew</a:t>
            </a:r>
            <a:r>
              <a:rPr lang="en-IN" dirty="0">
                <a:solidFill>
                  <a:srgbClr val="FFC000"/>
                </a:solidFill>
              </a:rPr>
              <a:t>() method</a:t>
            </a:r>
          </a:p>
          <a:p>
            <a:pPr>
              <a:buFont typeface="Wingdings" panose="05000000000000000000" pitchFamily="2" charset="2"/>
              <a:buChar char="v"/>
            </a:pPr>
            <a:r>
              <a:rPr lang="en-IN" dirty="0">
                <a:solidFill>
                  <a:srgbClr val="FFC000"/>
                </a:solidFill>
              </a:rPr>
              <a:t>If the value of any column is in between +0.5 and -0.5 that means data is distributed well otherwise there is skewness in the data</a:t>
            </a:r>
          </a:p>
          <a:p>
            <a:pPr>
              <a:buFont typeface="Wingdings" panose="05000000000000000000" pitchFamily="2" charset="2"/>
              <a:buChar char="v"/>
            </a:pPr>
            <a:r>
              <a:rPr lang="en-IN" dirty="0">
                <a:solidFill>
                  <a:srgbClr val="FFC000"/>
                </a:solidFill>
              </a:rPr>
              <a:t> Remove data skewness, I use </a:t>
            </a:r>
            <a:r>
              <a:rPr lang="en-IN" dirty="0" err="1">
                <a:solidFill>
                  <a:srgbClr val="FFC000"/>
                </a:solidFill>
              </a:rPr>
              <a:t>np.sqrt</a:t>
            </a:r>
            <a:r>
              <a:rPr lang="en-IN" dirty="0">
                <a:solidFill>
                  <a:srgbClr val="FFC000"/>
                </a:solidFill>
              </a:rPr>
              <a:t>() method here for removing the skewness.</a:t>
            </a:r>
          </a:p>
          <a:p>
            <a:endParaRPr lang="en-IN" dirty="0"/>
          </a:p>
        </p:txBody>
      </p:sp>
    </p:spTree>
    <p:extLst>
      <p:ext uri="{BB962C8B-B14F-4D97-AF65-F5344CB8AC3E}">
        <p14:creationId xmlns:p14="http://schemas.microsoft.com/office/powerpoint/2010/main" val="3478217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88FE2-D649-4D81-B9D5-8D39F1ABBFE4}"/>
              </a:ext>
            </a:extLst>
          </p:cNvPr>
          <p:cNvSpPr>
            <a:spLocks noGrp="1"/>
          </p:cNvSpPr>
          <p:nvPr>
            <p:ph type="title"/>
          </p:nvPr>
        </p:nvSpPr>
        <p:spPr/>
        <p:txBody>
          <a:bodyPr/>
          <a:lstStyle/>
          <a:p>
            <a:r>
              <a:rPr lang="en-US" dirty="0"/>
              <a:t>DATA PRE-PROCESSING</a:t>
            </a:r>
            <a:endParaRPr lang="en-IN" dirty="0"/>
          </a:p>
        </p:txBody>
      </p:sp>
      <p:sp>
        <p:nvSpPr>
          <p:cNvPr id="3" name="Content Placeholder 2">
            <a:extLst>
              <a:ext uri="{FF2B5EF4-FFF2-40B4-BE49-F238E27FC236}">
                <a16:creationId xmlns:a16="http://schemas.microsoft.com/office/drawing/2014/main" id="{2E7C55DE-6559-4E89-AED0-6BEB87550D1A}"/>
              </a:ext>
            </a:extLst>
          </p:cNvPr>
          <p:cNvSpPr>
            <a:spLocks noGrp="1"/>
          </p:cNvSpPr>
          <p:nvPr>
            <p:ph idx="1"/>
          </p:nvPr>
        </p:nvSpPr>
        <p:spPr/>
        <p:txBody>
          <a:bodyPr/>
          <a:lstStyle/>
          <a:p>
            <a:pPr>
              <a:buFont typeface="Wingdings" panose="05000000000000000000" pitchFamily="2" charset="2"/>
              <a:buChar char="ü"/>
            </a:pPr>
            <a:r>
              <a:rPr lang="en-US" dirty="0">
                <a:solidFill>
                  <a:srgbClr val="FFC000"/>
                </a:solidFill>
              </a:rPr>
              <a:t>After handling skewness check for outliers</a:t>
            </a:r>
            <a:endParaRPr lang="en-IN" dirty="0">
              <a:solidFill>
                <a:srgbClr val="FFC000"/>
              </a:solidFill>
            </a:endParaRPr>
          </a:p>
          <a:p>
            <a:pPr>
              <a:buFont typeface="Wingdings" panose="05000000000000000000" pitchFamily="2" charset="2"/>
              <a:buChar char="ü"/>
            </a:pPr>
            <a:r>
              <a:rPr lang="en-IN" dirty="0">
                <a:solidFill>
                  <a:srgbClr val="FFC000"/>
                </a:solidFill>
              </a:rPr>
              <a:t>After checking for outlier scaled the data using </a:t>
            </a:r>
            <a:r>
              <a:rPr lang="en-IN" dirty="0" err="1">
                <a:solidFill>
                  <a:srgbClr val="FFC000"/>
                </a:solidFill>
              </a:rPr>
              <a:t>StandardScaler</a:t>
            </a:r>
            <a:endParaRPr lang="en-IN" dirty="0">
              <a:solidFill>
                <a:srgbClr val="FFC000"/>
              </a:solidFill>
            </a:endParaRPr>
          </a:p>
          <a:p>
            <a:pPr>
              <a:buFont typeface="Wingdings" panose="05000000000000000000" pitchFamily="2" charset="2"/>
              <a:buChar char="ü"/>
            </a:pPr>
            <a:r>
              <a:rPr lang="en-IN" dirty="0">
                <a:solidFill>
                  <a:srgbClr val="FFC000"/>
                </a:solidFill>
              </a:rPr>
              <a:t> Now check for </a:t>
            </a:r>
            <a:r>
              <a:rPr lang="en-IN" dirty="0" err="1">
                <a:solidFill>
                  <a:srgbClr val="FFC000"/>
                </a:solidFill>
              </a:rPr>
              <a:t>vif</a:t>
            </a:r>
            <a:r>
              <a:rPr lang="en-IN" dirty="0">
                <a:solidFill>
                  <a:srgbClr val="FFC000"/>
                </a:solidFill>
              </a:rPr>
              <a:t> score for every column, which column having </a:t>
            </a:r>
            <a:r>
              <a:rPr lang="en-IN" dirty="0" err="1">
                <a:solidFill>
                  <a:srgbClr val="FFC000"/>
                </a:solidFill>
              </a:rPr>
              <a:t>vif</a:t>
            </a:r>
            <a:r>
              <a:rPr lang="en-IN" dirty="0">
                <a:solidFill>
                  <a:srgbClr val="FFC000"/>
                </a:solidFill>
              </a:rPr>
              <a:t> score more than 5 remove that column</a:t>
            </a:r>
            <a:endParaRPr lang="en-US" dirty="0">
              <a:solidFill>
                <a:srgbClr val="FFC000"/>
              </a:solidFill>
            </a:endParaRPr>
          </a:p>
          <a:p>
            <a:endParaRPr lang="en-IN" dirty="0"/>
          </a:p>
        </p:txBody>
      </p:sp>
    </p:spTree>
    <p:extLst>
      <p:ext uri="{BB962C8B-B14F-4D97-AF65-F5344CB8AC3E}">
        <p14:creationId xmlns:p14="http://schemas.microsoft.com/office/powerpoint/2010/main" val="3761794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EE144-CC2C-449A-B170-F1538986236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73290E6-009A-4076-88C9-ECECDD0CAFFE}"/>
              </a:ext>
            </a:extLst>
          </p:cNvPr>
          <p:cNvSpPr>
            <a:spLocks noGrp="1"/>
          </p:cNvSpPr>
          <p:nvPr>
            <p:ph idx="1"/>
          </p:nvPr>
        </p:nvSpPr>
        <p:spPr/>
        <p:txBody>
          <a:bodyPr>
            <a:normAutofit fontScale="92500" lnSpcReduction="20000"/>
          </a:bodyPr>
          <a:lstStyle/>
          <a:p>
            <a:pPr>
              <a:buFont typeface="Wingdings" panose="05000000000000000000" pitchFamily="2" charset="2"/>
              <a:buChar char="q"/>
            </a:pPr>
            <a:r>
              <a:rPr lang="en-US" dirty="0"/>
              <a:t>In this project we are going to use linear regression for predicting the sales prices of houses.</a:t>
            </a:r>
          </a:p>
          <a:p>
            <a:pPr>
              <a:buFont typeface="Wingdings" panose="05000000000000000000" pitchFamily="2" charset="2"/>
              <a:buChar char="q"/>
            </a:pPr>
            <a:r>
              <a:rPr lang="en-US" dirty="0"/>
              <a:t>First import all the important libraries i.e. </a:t>
            </a:r>
            <a:r>
              <a:rPr lang="en-US" dirty="0" err="1"/>
              <a:t>LogisticRegression</a:t>
            </a:r>
            <a:r>
              <a:rPr lang="en-US" dirty="0"/>
              <a:t>, </a:t>
            </a:r>
            <a:r>
              <a:rPr lang="en-US" dirty="0" err="1"/>
              <a:t>accuracy_score</a:t>
            </a:r>
            <a:r>
              <a:rPr lang="en-US" dirty="0"/>
              <a:t>, confusion matrix, classification report and </a:t>
            </a:r>
            <a:r>
              <a:rPr lang="en-US" dirty="0" err="1"/>
              <a:t>train_test_split</a:t>
            </a:r>
            <a:r>
              <a:rPr lang="en-US" dirty="0"/>
              <a:t> for the training and testing of the model</a:t>
            </a:r>
            <a:r>
              <a:rPr lang="en-IN" dirty="0"/>
              <a:t>.</a:t>
            </a:r>
          </a:p>
          <a:p>
            <a:pPr>
              <a:buFont typeface="Wingdings" panose="05000000000000000000" pitchFamily="2" charset="2"/>
              <a:buChar char="q"/>
            </a:pPr>
            <a:r>
              <a:rPr lang="en-IN" dirty="0"/>
              <a:t>After getting the </a:t>
            </a:r>
            <a:r>
              <a:rPr lang="en-IN" dirty="0" err="1"/>
              <a:t>random_state</a:t>
            </a:r>
            <a:r>
              <a:rPr lang="en-IN" dirty="0"/>
              <a:t> split the data into training and testing.</a:t>
            </a:r>
          </a:p>
          <a:p>
            <a:pPr>
              <a:buFont typeface="Wingdings" panose="05000000000000000000" pitchFamily="2" charset="2"/>
              <a:buChar char="q"/>
            </a:pPr>
            <a:r>
              <a:rPr lang="en-IN" dirty="0"/>
              <a:t>Then fit the training and testing data into the model and check the accuracy score that how well it fits our data.</a:t>
            </a:r>
          </a:p>
          <a:p>
            <a:pPr>
              <a:buFont typeface="Wingdings" panose="05000000000000000000" pitchFamily="2" charset="2"/>
              <a:buChar char="q"/>
            </a:pPr>
            <a:r>
              <a:rPr lang="en-IN" dirty="0"/>
              <a:t>After this use 2-3 more model like </a:t>
            </a:r>
            <a:r>
              <a:rPr lang="en-IN" dirty="0" err="1"/>
              <a:t>decisiontreeclassifier</a:t>
            </a:r>
            <a:r>
              <a:rPr lang="en-IN" dirty="0"/>
              <a:t>, </a:t>
            </a:r>
            <a:r>
              <a:rPr lang="en-IN" dirty="0" err="1"/>
              <a:t>randomforestclassifier</a:t>
            </a:r>
            <a:r>
              <a:rPr lang="en-IN"/>
              <a:t> etc</a:t>
            </a:r>
            <a:endParaRPr lang="en-IN" dirty="0"/>
          </a:p>
          <a:p>
            <a:pPr>
              <a:buFont typeface="Wingdings" panose="05000000000000000000" pitchFamily="2" charset="2"/>
              <a:buChar char="q"/>
            </a:pPr>
            <a:r>
              <a:rPr lang="en-IN" dirty="0"/>
              <a:t>Then perform the cross validation and hyper parameter tunning on the model and plot the ROC AUC curve for the final accuracy.</a:t>
            </a:r>
          </a:p>
          <a:p>
            <a:pPr>
              <a:buFont typeface="Wingdings" panose="05000000000000000000" pitchFamily="2" charset="2"/>
              <a:buChar char="q"/>
            </a:pPr>
            <a:r>
              <a:rPr lang="en-IN" dirty="0"/>
              <a:t>Finally save </a:t>
            </a:r>
            <a:r>
              <a:rPr lang="en-IN" dirty="0" err="1"/>
              <a:t>tho</a:t>
            </a:r>
            <a:r>
              <a:rPr lang="en-IN" dirty="0"/>
              <a:t> model for the later prediction of the model.</a:t>
            </a:r>
            <a:endParaRPr lang="en-US" dirty="0"/>
          </a:p>
          <a:p>
            <a:endParaRPr lang="en-IN" dirty="0"/>
          </a:p>
        </p:txBody>
      </p:sp>
    </p:spTree>
    <p:extLst>
      <p:ext uri="{BB962C8B-B14F-4D97-AF65-F5344CB8AC3E}">
        <p14:creationId xmlns:p14="http://schemas.microsoft.com/office/powerpoint/2010/main" val="5966403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10</TotalTime>
  <Words>1023</Words>
  <Application>Microsoft Office PowerPoint</Application>
  <PresentationFormat>Widescreen</PresentationFormat>
  <Paragraphs>45</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Century Gothic</vt:lpstr>
      <vt:lpstr>Wingdings</vt:lpstr>
      <vt:lpstr>Wingdings 3</vt:lpstr>
      <vt:lpstr>Ion</vt:lpstr>
      <vt:lpstr>Micro credit defaulter project</vt:lpstr>
      <vt:lpstr>Problem statement</vt:lpstr>
      <vt:lpstr>EDA Steps</vt:lpstr>
      <vt:lpstr>VISUALIZATION STEPS</vt:lpstr>
      <vt:lpstr>DATA PRE-PROCESSING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 credit defaulter project</dc:title>
  <dc:creator>ankush5587@outlook.com</dc:creator>
  <cp:lastModifiedBy>ankush5587@outlook.com</cp:lastModifiedBy>
  <cp:revision>1</cp:revision>
  <dcterms:created xsi:type="dcterms:W3CDTF">2022-04-18T09:14:43Z</dcterms:created>
  <dcterms:modified xsi:type="dcterms:W3CDTF">2022-04-18T09:25:30Z</dcterms:modified>
</cp:coreProperties>
</file>