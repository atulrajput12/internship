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13" r:id="rId1"/>
  </p:sldMasterIdLst>
  <p:sldIdLst>
    <p:sldId id="256" r:id="rId2"/>
    <p:sldId id="257" r:id="rId3"/>
    <p:sldId id="258" r:id="rId4"/>
    <p:sldId id="259" r:id="rId5"/>
    <p:sldId id="260" r:id="rId6"/>
    <p:sldId id="261" r:id="rId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85" d="100"/>
          <a:sy n="85" d="100"/>
        </p:scale>
        <p:origin x="590" y="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38843133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34506608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7151977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39885769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21277341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18339103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29428316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2058143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97272798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6DFF08F-DC6B-4601-B491-B0F83F6DD2DA}" type="datetimeFigureOut">
              <a:rPr lang="en-US" smtClean="0"/>
              <a:pPr/>
              <a:t>3/31/2022</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2458326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96DFF08F-DC6B-4601-B491-B0F83F6DD2DA}" type="datetimeFigureOut">
              <a:rPr lang="en-US" smtClean="0"/>
              <a:pPr/>
              <a:t>3/31/2022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578122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96DFF08F-DC6B-4601-B491-B0F83F6DD2DA}" type="datetimeFigureOut">
              <a:rPr lang="en-US" smtClean="0"/>
              <a:pPr/>
              <a:t>3/31/2022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98036208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6DFF08F-DC6B-4601-B491-B0F83F6DD2DA}" type="datetimeFigureOut">
              <a:rPr lang="en-US" smtClean="0"/>
              <a:pPr/>
              <a:t>3/31/2022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9395865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96DFF08F-DC6B-4601-B491-B0F83F6DD2DA}" type="datetimeFigureOut">
              <a:rPr lang="en-US" smtClean="0"/>
              <a:pPr/>
              <a:t>3/31/2022</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1177232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96DFF08F-DC6B-4601-B491-B0F83F6DD2DA}" type="datetimeFigureOut">
              <a:rPr lang="en-US" smtClean="0"/>
              <a:pPr/>
              <a:t>3/31/2022</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877238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259736886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96DFF08F-DC6B-4601-B491-B0F83F6DD2DA}" type="datetimeFigureOut">
              <a:rPr lang="en-US" smtClean="0"/>
              <a:t>3/31/2022</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t>‹#›</a:t>
            </a:fld>
            <a:endParaRPr lang="en-US" dirty="0"/>
          </a:p>
        </p:txBody>
      </p:sp>
    </p:spTree>
    <p:extLst>
      <p:ext uri="{BB962C8B-B14F-4D97-AF65-F5344CB8AC3E}">
        <p14:creationId xmlns:p14="http://schemas.microsoft.com/office/powerpoint/2010/main" val="40831175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96DFF08F-DC6B-4601-B491-B0F83F6DD2DA}" type="datetimeFigureOut">
              <a:rPr lang="en-US" smtClean="0"/>
              <a:pPr/>
              <a:t>3/31/2022</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617110269"/>
      </p:ext>
    </p:extLst>
  </p:cSld>
  <p:clrMap bg1="dk1" tx1="lt1" bg2="dk2" tx2="lt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 id="2147483725" r:id="rId12"/>
    <p:sldLayoutId id="2147483726" r:id="rId13"/>
    <p:sldLayoutId id="2147483727" r:id="rId14"/>
    <p:sldLayoutId id="2147483728" r:id="rId15"/>
    <p:sldLayoutId id="2147483729" r:id="rId16"/>
    <p:sldLayoutId id="2147483730"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AC02BEF-A9FA-4452-8E26-C6C4A640B79D}"/>
              </a:ext>
            </a:extLst>
          </p:cNvPr>
          <p:cNvSpPr>
            <a:spLocks noGrp="1"/>
          </p:cNvSpPr>
          <p:nvPr>
            <p:ph type="title"/>
          </p:nvPr>
        </p:nvSpPr>
        <p:spPr/>
        <p:txBody>
          <a:bodyPr/>
          <a:lstStyle/>
          <a:p>
            <a:r>
              <a:rPr lang="en-US" dirty="0"/>
              <a:t>Car price prediction project</a:t>
            </a:r>
            <a:endParaRPr lang="en-IN" dirty="0"/>
          </a:p>
        </p:txBody>
      </p:sp>
      <p:sp>
        <p:nvSpPr>
          <p:cNvPr id="5" name="Content Placeholder 4">
            <a:extLst>
              <a:ext uri="{FF2B5EF4-FFF2-40B4-BE49-F238E27FC236}">
                <a16:creationId xmlns:a16="http://schemas.microsoft.com/office/drawing/2014/main" id="{3F34095E-7DB7-441C-A7AB-6D7591CCF4AF}"/>
              </a:ext>
            </a:extLst>
          </p:cNvPr>
          <p:cNvSpPr>
            <a:spLocks noGrp="1"/>
          </p:cNvSpPr>
          <p:nvPr>
            <p:ph idx="1"/>
          </p:nvPr>
        </p:nvSpPr>
        <p:spPr/>
        <p:txBody>
          <a:bodyPr>
            <a:normAutofit fontScale="40000" lnSpcReduction="20000"/>
          </a:bodyPr>
          <a:lstStyle/>
          <a:p>
            <a:r>
              <a:rPr lang="en-US" b="1" i="1" u="sng" dirty="0"/>
              <a:t>Problem statement:-</a:t>
            </a:r>
          </a:p>
          <a:p>
            <a:pPr marL="0" indent="0" algn="l">
              <a:buNone/>
            </a:pPr>
            <a:r>
              <a:rPr lang="en-US" b="0" i="0" dirty="0">
                <a:effectLst/>
                <a:latin typeface="Helvetica Neue"/>
              </a:rPr>
              <a:t>With the covid 19 impact in the market, we have seen lot of changes in the car market. Now some cars are in demand hence making them costly and some are not in demand hence cheaper. One of our clients works with small traders, who sell used cars. With the change in market due to covid 19 impact, our client is facing problems with their previous car price valuation machine learning models. So, they are looking for new machine learning models from new data. We have to make car price valuation model. This project contains two phase</a:t>
            </a:r>
          </a:p>
          <a:p>
            <a:pPr marL="0" indent="0" algn="l">
              <a:buNone/>
            </a:pPr>
            <a:r>
              <a:rPr lang="en-US" b="1" i="1" u="sng" dirty="0">
                <a:effectLst/>
                <a:latin typeface="Helvetica Neue"/>
              </a:rPr>
              <a:t>Data Collection Phase</a:t>
            </a:r>
          </a:p>
          <a:p>
            <a:pPr marL="0" indent="0" algn="l">
              <a:buNone/>
            </a:pPr>
            <a:r>
              <a:rPr lang="en-US" b="0" i="0" dirty="0">
                <a:effectLst/>
                <a:latin typeface="Helvetica Neue"/>
              </a:rPr>
              <a:t>You have to scrape at least 5000 used cars data. You can scrape more data as well, it’s up to you. more the data better the model</a:t>
            </a:r>
          </a:p>
          <a:p>
            <a:pPr marL="0" indent="0" algn="l">
              <a:buNone/>
            </a:pPr>
            <a:r>
              <a:rPr lang="en-US" b="0" i="0" dirty="0">
                <a:effectLst/>
                <a:latin typeface="Helvetica Neue"/>
              </a:rPr>
              <a:t>In this section You need to scrape the data of used cars from websites (</a:t>
            </a:r>
            <a:r>
              <a:rPr lang="en-US" b="0" i="0" dirty="0" err="1">
                <a:effectLst/>
                <a:latin typeface="Helvetica Neue"/>
              </a:rPr>
              <a:t>Olx</a:t>
            </a:r>
            <a:r>
              <a:rPr lang="en-US" b="0" i="0" dirty="0">
                <a:effectLst/>
                <a:latin typeface="Helvetica Neue"/>
              </a:rPr>
              <a:t>, </a:t>
            </a:r>
            <a:r>
              <a:rPr lang="en-US" b="0" i="0" dirty="0" err="1">
                <a:effectLst/>
                <a:latin typeface="Helvetica Neue"/>
              </a:rPr>
              <a:t>cardekho</a:t>
            </a:r>
            <a:r>
              <a:rPr lang="en-US" b="0" i="0" dirty="0">
                <a:effectLst/>
                <a:latin typeface="Helvetica Neue"/>
              </a:rPr>
              <a:t>, Cars24 etc.) You need web scraping for this. You have to fetch data for different locations. The number of columns for data doesn’t have limit, it’s up to you and your creativity. Generally, these columns are Brand, model, variant, manufacturing year, driven kilometers, fuel, number of owners, location and at last target variable Price of the car. This data is to give you a hint about important variables in used car model. You can make changes to it, you can add or you can remove some columns, it completely depends on the website from which you are fetching the data. Try to include all types of cars in your data for example- SUV, Sedans, Coupe, minivan, Hatchback.</a:t>
            </a:r>
          </a:p>
          <a:p>
            <a:pPr marL="0" indent="0" algn="l">
              <a:buNone/>
            </a:pPr>
            <a:r>
              <a:rPr lang="en-US" b="0" i="0" dirty="0">
                <a:effectLst/>
                <a:latin typeface="Helvetica Neue"/>
              </a:rPr>
              <a:t>Note – The data which you are collecting is important to us. Kindly don’t share it on any public platforms.</a:t>
            </a:r>
          </a:p>
          <a:p>
            <a:pPr marL="0" indent="0" algn="l">
              <a:buNone/>
            </a:pPr>
            <a:r>
              <a:rPr lang="en-US" b="1" i="1" u="sng" dirty="0">
                <a:effectLst/>
                <a:latin typeface="Helvetica Neue"/>
              </a:rPr>
              <a:t>Model Building Phase</a:t>
            </a:r>
          </a:p>
          <a:p>
            <a:pPr marL="0" indent="0" algn="l">
              <a:buNone/>
            </a:pPr>
            <a:r>
              <a:rPr lang="en-US" b="0" i="0" dirty="0">
                <a:effectLst/>
                <a:latin typeface="Helvetica Neue"/>
              </a:rPr>
              <a:t>After collecting the data, you need to build a machine learning model. Before model building do all data pre-processing steps. Try different models with different hyper parameters and select the best model.</a:t>
            </a:r>
          </a:p>
          <a:p>
            <a:pPr marL="0" indent="0" algn="l">
              <a:buNone/>
            </a:pPr>
            <a:r>
              <a:rPr lang="en-US" b="0" i="0" dirty="0">
                <a:effectLst/>
                <a:latin typeface="Helvetica Neue"/>
              </a:rPr>
              <a:t>Follow the complete life cycle of data science. Include all the steps like.</a:t>
            </a:r>
          </a:p>
          <a:p>
            <a:pPr algn="l">
              <a:buFont typeface="+mj-lt"/>
              <a:buAutoNum type="arabicPeriod"/>
            </a:pPr>
            <a:r>
              <a:rPr lang="en-US" b="0" i="0" dirty="0">
                <a:effectLst/>
                <a:latin typeface="Helvetica Neue"/>
              </a:rPr>
              <a:t>Data Cleaning</a:t>
            </a:r>
          </a:p>
          <a:p>
            <a:pPr algn="l">
              <a:buFont typeface="+mj-lt"/>
              <a:buAutoNum type="arabicPeriod"/>
            </a:pPr>
            <a:r>
              <a:rPr lang="en-US" b="0" i="0" dirty="0">
                <a:effectLst/>
                <a:latin typeface="Helvetica Neue"/>
              </a:rPr>
              <a:t>Exploratory Data Analysis</a:t>
            </a:r>
          </a:p>
          <a:p>
            <a:pPr algn="l">
              <a:buFont typeface="+mj-lt"/>
              <a:buAutoNum type="arabicPeriod"/>
            </a:pPr>
            <a:r>
              <a:rPr lang="en-US" b="0" i="0" dirty="0">
                <a:effectLst/>
                <a:latin typeface="Helvetica Neue"/>
              </a:rPr>
              <a:t>Data Pre-processing</a:t>
            </a:r>
          </a:p>
          <a:p>
            <a:pPr algn="l">
              <a:buFont typeface="+mj-lt"/>
              <a:buAutoNum type="arabicPeriod"/>
            </a:pPr>
            <a:r>
              <a:rPr lang="en-US" b="0" i="0" dirty="0">
                <a:effectLst/>
                <a:latin typeface="Helvetica Neue"/>
              </a:rPr>
              <a:t>Model Building</a:t>
            </a:r>
          </a:p>
          <a:p>
            <a:pPr algn="l">
              <a:buFont typeface="+mj-lt"/>
              <a:buAutoNum type="arabicPeriod"/>
            </a:pPr>
            <a:r>
              <a:rPr lang="en-US" b="0" i="0" dirty="0">
                <a:effectLst/>
                <a:latin typeface="Helvetica Neue"/>
              </a:rPr>
              <a:t>Model Evaluation</a:t>
            </a:r>
          </a:p>
          <a:p>
            <a:pPr algn="l">
              <a:buFont typeface="+mj-lt"/>
              <a:buAutoNum type="arabicPeriod"/>
            </a:pPr>
            <a:r>
              <a:rPr lang="en-US" b="0" i="0" dirty="0">
                <a:effectLst/>
                <a:latin typeface="Helvetica Neue"/>
              </a:rPr>
              <a:t>Selecting the best </a:t>
            </a:r>
            <a:r>
              <a:rPr lang="en-US" b="0" i="0" dirty="0" err="1">
                <a:effectLst/>
                <a:latin typeface="Helvetica Neue"/>
              </a:rPr>
              <a:t>modEL</a:t>
            </a:r>
            <a:endParaRPr lang="en-US" b="0" i="0" dirty="0">
              <a:effectLst/>
              <a:latin typeface="Helvetica Neue"/>
            </a:endParaRPr>
          </a:p>
          <a:p>
            <a:pPr marL="0" indent="0">
              <a:buNone/>
            </a:pPr>
            <a:endParaRPr lang="en-IN" b="1" i="1" u="sng" dirty="0"/>
          </a:p>
        </p:txBody>
      </p:sp>
    </p:spTree>
    <p:extLst>
      <p:ext uri="{BB962C8B-B14F-4D97-AF65-F5344CB8AC3E}">
        <p14:creationId xmlns:p14="http://schemas.microsoft.com/office/powerpoint/2010/main" val="13167405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CDA66C-6BED-4335-8F34-34AE8287FA56}"/>
              </a:ext>
            </a:extLst>
          </p:cNvPr>
          <p:cNvSpPr>
            <a:spLocks noGrp="1"/>
          </p:cNvSpPr>
          <p:nvPr>
            <p:ph type="title"/>
          </p:nvPr>
        </p:nvSpPr>
        <p:spPr/>
        <p:txBody>
          <a:bodyPr/>
          <a:lstStyle/>
          <a:p>
            <a:r>
              <a:rPr lang="en-US" dirty="0"/>
              <a:t>Data scrapping</a:t>
            </a:r>
            <a:br>
              <a:rPr lang="en-US" dirty="0"/>
            </a:br>
            <a:endParaRPr lang="en-IN" dirty="0"/>
          </a:p>
        </p:txBody>
      </p:sp>
      <p:sp>
        <p:nvSpPr>
          <p:cNvPr id="3" name="Content Placeholder 2">
            <a:extLst>
              <a:ext uri="{FF2B5EF4-FFF2-40B4-BE49-F238E27FC236}">
                <a16:creationId xmlns:a16="http://schemas.microsoft.com/office/drawing/2014/main" id="{C57F7D5A-15ED-4FA6-B3F3-F86A8BD501D4}"/>
              </a:ext>
            </a:extLst>
          </p:cNvPr>
          <p:cNvSpPr>
            <a:spLocks noGrp="1"/>
          </p:cNvSpPr>
          <p:nvPr>
            <p:ph idx="1"/>
          </p:nvPr>
        </p:nvSpPr>
        <p:spPr/>
        <p:txBody>
          <a:bodyPr/>
          <a:lstStyle/>
          <a:p>
            <a:pPr>
              <a:buFont typeface="Wingdings" panose="05000000000000000000" pitchFamily="2" charset="2"/>
              <a:buChar char="q"/>
            </a:pPr>
            <a:r>
              <a:rPr lang="en-US" dirty="0"/>
              <a:t>First we will scrap the data for model building , for that purpose import all the required libraries like:-</a:t>
            </a:r>
            <a:r>
              <a:rPr lang="en-US" dirty="0" err="1"/>
              <a:t>selenium,webdriver,pandas,time</a:t>
            </a:r>
            <a:r>
              <a:rPr lang="en-US" dirty="0"/>
              <a:t> etc.</a:t>
            </a:r>
          </a:p>
          <a:p>
            <a:pPr>
              <a:buFont typeface="Wingdings" panose="05000000000000000000" pitchFamily="2" charset="2"/>
              <a:buChar char="q"/>
            </a:pPr>
            <a:r>
              <a:rPr lang="en-US" dirty="0"/>
              <a:t>Then using driver import the chromedriver.exe and then import the webpage from where we have to scrap the data</a:t>
            </a:r>
          </a:p>
          <a:p>
            <a:pPr>
              <a:buFont typeface="Wingdings" panose="05000000000000000000" pitchFamily="2" charset="2"/>
              <a:buChar char="q"/>
            </a:pPr>
            <a:r>
              <a:rPr lang="en-US" dirty="0"/>
              <a:t>Then create some empty list to store the scrapped data</a:t>
            </a:r>
          </a:p>
          <a:p>
            <a:pPr>
              <a:buFont typeface="Wingdings" panose="05000000000000000000" pitchFamily="2" charset="2"/>
              <a:buChar char="q"/>
            </a:pPr>
            <a:r>
              <a:rPr lang="en-US" dirty="0" err="1"/>
              <a:t>Afte</a:t>
            </a:r>
            <a:r>
              <a:rPr lang="en-US" dirty="0"/>
              <a:t> this using </a:t>
            </a:r>
            <a:r>
              <a:rPr lang="en-US" dirty="0" err="1"/>
              <a:t>xpath</a:t>
            </a:r>
            <a:r>
              <a:rPr lang="en-US" dirty="0"/>
              <a:t> scrap all the </a:t>
            </a:r>
            <a:r>
              <a:rPr lang="en-US" dirty="0" err="1"/>
              <a:t>reuired</a:t>
            </a:r>
            <a:r>
              <a:rPr lang="en-US" dirty="0"/>
              <a:t> data and make data frame of it so that we can use that data frame for model building</a:t>
            </a:r>
            <a:endParaRPr lang="en-IN" dirty="0"/>
          </a:p>
        </p:txBody>
      </p:sp>
    </p:spTree>
    <p:extLst>
      <p:ext uri="{BB962C8B-B14F-4D97-AF65-F5344CB8AC3E}">
        <p14:creationId xmlns:p14="http://schemas.microsoft.com/office/powerpoint/2010/main" val="195820308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F1F8C9-E936-4352-AEC9-1E2BC476BB6C}"/>
              </a:ext>
            </a:extLst>
          </p:cNvPr>
          <p:cNvSpPr>
            <a:spLocks noGrp="1"/>
          </p:cNvSpPr>
          <p:nvPr>
            <p:ph type="title"/>
          </p:nvPr>
        </p:nvSpPr>
        <p:spPr/>
        <p:txBody>
          <a:bodyPr/>
          <a:lstStyle/>
          <a:p>
            <a:r>
              <a:rPr lang="en-US" dirty="0"/>
              <a:t>Model building</a:t>
            </a:r>
            <a:endParaRPr lang="en-IN" dirty="0"/>
          </a:p>
        </p:txBody>
      </p:sp>
      <p:sp>
        <p:nvSpPr>
          <p:cNvPr id="3" name="Content Placeholder 2">
            <a:extLst>
              <a:ext uri="{FF2B5EF4-FFF2-40B4-BE49-F238E27FC236}">
                <a16:creationId xmlns:a16="http://schemas.microsoft.com/office/drawing/2014/main" id="{5D32E50E-980A-4600-9985-7A43BCE77A7A}"/>
              </a:ext>
            </a:extLst>
          </p:cNvPr>
          <p:cNvSpPr>
            <a:spLocks noGrp="1"/>
          </p:cNvSpPr>
          <p:nvPr>
            <p:ph idx="1"/>
          </p:nvPr>
        </p:nvSpPr>
        <p:spPr/>
        <p:txBody>
          <a:bodyPr/>
          <a:lstStyle/>
          <a:p>
            <a:pPr marL="45720" indent="0">
              <a:buNone/>
            </a:pPr>
            <a:r>
              <a:rPr lang="en-US" dirty="0">
                <a:solidFill>
                  <a:srgbClr val="0070C0"/>
                </a:solidFill>
              </a:rPr>
              <a:t>.</a:t>
            </a:r>
            <a:r>
              <a:rPr lang="en-US" dirty="0"/>
              <a:t>Import  All the important Libraries</a:t>
            </a:r>
          </a:p>
          <a:p>
            <a:pPr marL="45720" indent="0">
              <a:buNone/>
            </a:pPr>
            <a:r>
              <a:rPr lang="en-US" dirty="0"/>
              <a:t>2.Load the data set which is to be used for analysis</a:t>
            </a:r>
          </a:p>
          <a:p>
            <a:pPr marL="45720" indent="0">
              <a:buNone/>
            </a:pPr>
            <a:r>
              <a:rPr lang="en-US" dirty="0"/>
              <a:t>3.Check for the null values in the dataset</a:t>
            </a:r>
          </a:p>
          <a:p>
            <a:pPr lvl="1" algn="just">
              <a:buFont typeface="Wingdings" panose="05000000000000000000" pitchFamily="2" charset="2"/>
              <a:buChar char="Ø"/>
            </a:pPr>
            <a:r>
              <a:rPr lang="en-US" dirty="0">
                <a:solidFill>
                  <a:srgbClr val="FF0000"/>
                </a:solidFill>
              </a:rPr>
              <a:t>If there are null values fill them using </a:t>
            </a:r>
            <a:r>
              <a:rPr lang="en-US" dirty="0" err="1">
                <a:solidFill>
                  <a:srgbClr val="FF0000"/>
                </a:solidFill>
              </a:rPr>
              <a:t>fillna</a:t>
            </a:r>
            <a:r>
              <a:rPr lang="en-US" dirty="0">
                <a:solidFill>
                  <a:srgbClr val="FF0000"/>
                </a:solidFill>
              </a:rPr>
              <a:t> method</a:t>
            </a:r>
          </a:p>
          <a:p>
            <a:pPr marL="45720" indent="0" algn="just">
              <a:buNone/>
            </a:pPr>
            <a:r>
              <a:rPr lang="en-US" dirty="0">
                <a:solidFill>
                  <a:srgbClr val="0070C0"/>
                </a:solidFill>
              </a:rPr>
              <a:t>4. Check data description</a:t>
            </a:r>
          </a:p>
          <a:p>
            <a:pPr lvl="1" algn="just">
              <a:buFont typeface="Wingdings" panose="05000000000000000000" pitchFamily="2" charset="2"/>
              <a:buChar char="q"/>
            </a:pPr>
            <a:r>
              <a:rPr lang="en-IN" dirty="0">
                <a:solidFill>
                  <a:srgbClr val="FF0000"/>
                </a:solidFill>
              </a:rPr>
              <a:t> data description show full description of every column like:- std,mean,median,25% of the column and some other important information about every columns</a:t>
            </a:r>
            <a:endParaRPr lang="en-IN" dirty="0">
              <a:solidFill>
                <a:srgbClr val="0070C0"/>
              </a:solidFill>
            </a:endParaRPr>
          </a:p>
          <a:p>
            <a:endParaRPr lang="en-IN" dirty="0"/>
          </a:p>
        </p:txBody>
      </p:sp>
    </p:spTree>
    <p:extLst>
      <p:ext uri="{BB962C8B-B14F-4D97-AF65-F5344CB8AC3E}">
        <p14:creationId xmlns:p14="http://schemas.microsoft.com/office/powerpoint/2010/main" val="41583923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69C250-C1C3-468F-8DE3-AF3884785807}"/>
              </a:ext>
            </a:extLst>
          </p:cNvPr>
          <p:cNvSpPr>
            <a:spLocks noGrp="1"/>
          </p:cNvSpPr>
          <p:nvPr>
            <p:ph type="title"/>
          </p:nvPr>
        </p:nvSpPr>
        <p:spPr/>
        <p:txBody>
          <a:bodyPr/>
          <a:lstStyle/>
          <a:p>
            <a:r>
              <a:rPr lang="en-US" dirty="0"/>
              <a:t>Visualization steps</a:t>
            </a:r>
            <a:endParaRPr lang="en-IN" dirty="0"/>
          </a:p>
        </p:txBody>
      </p:sp>
      <p:sp>
        <p:nvSpPr>
          <p:cNvPr id="3" name="Content Placeholder 2">
            <a:extLst>
              <a:ext uri="{FF2B5EF4-FFF2-40B4-BE49-F238E27FC236}">
                <a16:creationId xmlns:a16="http://schemas.microsoft.com/office/drawing/2014/main" id="{FDEAEB8B-1C30-4D36-A5A3-62E3CBE1DD71}"/>
              </a:ext>
            </a:extLst>
          </p:cNvPr>
          <p:cNvSpPr>
            <a:spLocks noGrp="1"/>
          </p:cNvSpPr>
          <p:nvPr>
            <p:ph idx="1"/>
          </p:nvPr>
        </p:nvSpPr>
        <p:spPr/>
        <p:txBody>
          <a:bodyPr/>
          <a:lstStyle/>
          <a:p>
            <a:pPr>
              <a:buFont typeface="Wingdings" panose="05000000000000000000" pitchFamily="2" charset="2"/>
              <a:buChar char="v"/>
            </a:pPr>
            <a:r>
              <a:rPr lang="en-US" dirty="0">
                <a:solidFill>
                  <a:srgbClr val="FF0000"/>
                </a:solidFill>
              </a:rPr>
              <a:t>Check for correlation in the columns using heatmap or other techniques</a:t>
            </a:r>
          </a:p>
          <a:p>
            <a:pPr lvl="1" algn="just">
              <a:buFont typeface="Wingdings" panose="05000000000000000000" pitchFamily="2" charset="2"/>
              <a:buChar char="q"/>
            </a:pPr>
            <a:r>
              <a:rPr lang="en-US" dirty="0">
                <a:solidFill>
                  <a:srgbClr val="7030A0"/>
                </a:solidFill>
              </a:rPr>
              <a:t>Using correlation we can check that if any columns having high correlation with each other</a:t>
            </a:r>
            <a:r>
              <a:rPr lang="en-IN" dirty="0">
                <a:solidFill>
                  <a:srgbClr val="7030A0"/>
                </a:solidFill>
              </a:rPr>
              <a:t> we can remove one of them</a:t>
            </a:r>
            <a:endParaRPr lang="en-US" dirty="0">
              <a:solidFill>
                <a:srgbClr val="7030A0"/>
              </a:solidFill>
            </a:endParaRPr>
          </a:p>
          <a:p>
            <a:pPr>
              <a:buFont typeface="Wingdings" panose="05000000000000000000" pitchFamily="2" charset="2"/>
              <a:buChar char="v"/>
            </a:pPr>
            <a:r>
              <a:rPr lang="en-IN" dirty="0">
                <a:solidFill>
                  <a:srgbClr val="7030A0"/>
                </a:solidFill>
              </a:rPr>
              <a:t> </a:t>
            </a:r>
            <a:r>
              <a:rPr lang="en-IN" dirty="0">
                <a:solidFill>
                  <a:srgbClr val="FF0000"/>
                </a:solidFill>
              </a:rPr>
              <a:t>After checking correlation we plot the graph for data distribution among all the columns</a:t>
            </a:r>
          </a:p>
          <a:p>
            <a:pPr>
              <a:buFont typeface="Wingdings" panose="05000000000000000000" pitchFamily="2" charset="2"/>
              <a:buChar char="v"/>
            </a:pPr>
            <a:r>
              <a:rPr lang="en-IN" dirty="0">
                <a:solidFill>
                  <a:srgbClr val="FF0000"/>
                </a:solidFill>
              </a:rPr>
              <a:t> With the help of data distribution graph we can see that data is distributed well or not , if not distributed well we can check skewness using </a:t>
            </a:r>
            <a:r>
              <a:rPr lang="en-IN" dirty="0" err="1"/>
              <a:t>data.skew</a:t>
            </a:r>
            <a:r>
              <a:rPr lang="en-IN" dirty="0"/>
              <a:t>() </a:t>
            </a:r>
            <a:r>
              <a:rPr lang="en-IN" dirty="0">
                <a:solidFill>
                  <a:srgbClr val="FF0000"/>
                </a:solidFill>
              </a:rPr>
              <a:t>method</a:t>
            </a:r>
          </a:p>
          <a:p>
            <a:pPr>
              <a:buFont typeface="Wingdings" panose="05000000000000000000" pitchFamily="2" charset="2"/>
              <a:buChar char="v"/>
            </a:pPr>
            <a:r>
              <a:rPr lang="en-IN" dirty="0">
                <a:solidFill>
                  <a:srgbClr val="FF0000"/>
                </a:solidFill>
              </a:rPr>
              <a:t>If the value of any column is in between +0.5 and -0.5 that means data is distributed well otherwise there is skewness in the data</a:t>
            </a:r>
          </a:p>
          <a:p>
            <a:endParaRPr lang="en-IN" dirty="0"/>
          </a:p>
        </p:txBody>
      </p:sp>
    </p:spTree>
    <p:extLst>
      <p:ext uri="{BB962C8B-B14F-4D97-AF65-F5344CB8AC3E}">
        <p14:creationId xmlns:p14="http://schemas.microsoft.com/office/powerpoint/2010/main" val="33808609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CF7B0-C32C-4792-9365-383D7E44CF5B}"/>
              </a:ext>
            </a:extLst>
          </p:cNvPr>
          <p:cNvSpPr>
            <a:spLocks noGrp="1"/>
          </p:cNvSpPr>
          <p:nvPr>
            <p:ph type="title"/>
          </p:nvPr>
        </p:nvSpPr>
        <p:spPr/>
        <p:txBody>
          <a:bodyPr/>
          <a:lstStyle/>
          <a:p>
            <a:r>
              <a:rPr lang="en-US" dirty="0"/>
              <a:t>Data preprocessing</a:t>
            </a:r>
            <a:endParaRPr lang="en-IN" dirty="0"/>
          </a:p>
        </p:txBody>
      </p:sp>
      <p:sp>
        <p:nvSpPr>
          <p:cNvPr id="3" name="Content Placeholder 2">
            <a:extLst>
              <a:ext uri="{FF2B5EF4-FFF2-40B4-BE49-F238E27FC236}">
                <a16:creationId xmlns:a16="http://schemas.microsoft.com/office/drawing/2014/main" id="{C8C92E2A-A1CF-4367-93E4-586C6DC2335D}"/>
              </a:ext>
            </a:extLst>
          </p:cNvPr>
          <p:cNvSpPr>
            <a:spLocks noGrp="1"/>
          </p:cNvSpPr>
          <p:nvPr>
            <p:ph idx="1"/>
          </p:nvPr>
        </p:nvSpPr>
        <p:spPr/>
        <p:txBody>
          <a:bodyPr/>
          <a:lstStyle/>
          <a:p>
            <a:pPr>
              <a:buFont typeface="Wingdings" panose="05000000000000000000" pitchFamily="2" charset="2"/>
              <a:buChar char="ü"/>
            </a:pPr>
            <a:r>
              <a:rPr lang="en-US" dirty="0">
                <a:solidFill>
                  <a:srgbClr val="FF0000"/>
                </a:solidFill>
              </a:rPr>
              <a:t>After that check for outliers</a:t>
            </a:r>
            <a:endParaRPr lang="en-IN" dirty="0">
              <a:solidFill>
                <a:srgbClr val="FF0000"/>
              </a:solidFill>
            </a:endParaRPr>
          </a:p>
          <a:p>
            <a:pPr>
              <a:buFont typeface="Wingdings" panose="05000000000000000000" pitchFamily="2" charset="2"/>
              <a:buChar char="ü"/>
            </a:pPr>
            <a:r>
              <a:rPr lang="en-IN" dirty="0">
                <a:solidFill>
                  <a:srgbClr val="FF0000"/>
                </a:solidFill>
              </a:rPr>
              <a:t>After checking for outlier scaled the data using </a:t>
            </a:r>
            <a:r>
              <a:rPr lang="en-IN" dirty="0" err="1">
                <a:solidFill>
                  <a:srgbClr val="FF0000"/>
                </a:solidFill>
              </a:rPr>
              <a:t>StandardScaler</a:t>
            </a:r>
            <a:endParaRPr lang="en-IN" dirty="0">
              <a:solidFill>
                <a:srgbClr val="FF0000"/>
              </a:solidFill>
            </a:endParaRPr>
          </a:p>
          <a:p>
            <a:pPr>
              <a:buFont typeface="Wingdings" panose="05000000000000000000" pitchFamily="2" charset="2"/>
              <a:buChar char="ü"/>
            </a:pPr>
            <a:r>
              <a:rPr lang="en-IN" dirty="0">
                <a:solidFill>
                  <a:srgbClr val="FF0000"/>
                </a:solidFill>
              </a:rPr>
              <a:t> Now check for </a:t>
            </a:r>
            <a:r>
              <a:rPr lang="en-IN" dirty="0" err="1"/>
              <a:t>vif</a:t>
            </a:r>
            <a:r>
              <a:rPr lang="en-IN" dirty="0"/>
              <a:t> score</a:t>
            </a:r>
            <a:r>
              <a:rPr lang="en-IN" dirty="0">
                <a:solidFill>
                  <a:srgbClr val="FF0000"/>
                </a:solidFill>
              </a:rPr>
              <a:t> for every column, which column having </a:t>
            </a:r>
            <a:r>
              <a:rPr lang="en-IN" dirty="0" err="1">
                <a:solidFill>
                  <a:srgbClr val="FF0000"/>
                </a:solidFill>
              </a:rPr>
              <a:t>vif</a:t>
            </a:r>
            <a:r>
              <a:rPr lang="en-IN" dirty="0">
                <a:solidFill>
                  <a:srgbClr val="FF0000"/>
                </a:solidFill>
              </a:rPr>
              <a:t> score more than 5 remove that column</a:t>
            </a:r>
            <a:endParaRPr lang="en-US" dirty="0">
              <a:solidFill>
                <a:srgbClr val="FF0000"/>
              </a:solidFill>
            </a:endParaRPr>
          </a:p>
          <a:p>
            <a:endParaRPr lang="en-IN" dirty="0"/>
          </a:p>
        </p:txBody>
      </p:sp>
    </p:spTree>
    <p:extLst>
      <p:ext uri="{BB962C8B-B14F-4D97-AF65-F5344CB8AC3E}">
        <p14:creationId xmlns:p14="http://schemas.microsoft.com/office/powerpoint/2010/main" val="426903674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430C13-9066-4C55-AC44-85DA1045C143}"/>
              </a:ext>
            </a:extLst>
          </p:cNvPr>
          <p:cNvSpPr>
            <a:spLocks noGrp="1"/>
          </p:cNvSpPr>
          <p:nvPr>
            <p:ph type="title"/>
          </p:nvPr>
        </p:nvSpPr>
        <p:spPr/>
        <p:txBody>
          <a:bodyPr/>
          <a:lstStyle/>
          <a:p>
            <a:r>
              <a:rPr lang="en-US" dirty="0"/>
              <a:t>Training process</a:t>
            </a:r>
            <a:endParaRPr lang="en-IN" dirty="0"/>
          </a:p>
        </p:txBody>
      </p:sp>
      <p:sp>
        <p:nvSpPr>
          <p:cNvPr id="3" name="Content Placeholder 2">
            <a:extLst>
              <a:ext uri="{FF2B5EF4-FFF2-40B4-BE49-F238E27FC236}">
                <a16:creationId xmlns:a16="http://schemas.microsoft.com/office/drawing/2014/main" id="{2C567F8D-2850-4437-A6A6-CCBADF68BBE8}"/>
              </a:ext>
            </a:extLst>
          </p:cNvPr>
          <p:cNvSpPr>
            <a:spLocks noGrp="1"/>
          </p:cNvSpPr>
          <p:nvPr>
            <p:ph idx="1"/>
          </p:nvPr>
        </p:nvSpPr>
        <p:spPr/>
        <p:txBody>
          <a:bodyPr>
            <a:normAutofit lnSpcReduction="10000"/>
          </a:bodyPr>
          <a:lstStyle/>
          <a:p>
            <a:pPr>
              <a:buFont typeface="Wingdings" panose="05000000000000000000" pitchFamily="2" charset="2"/>
              <a:buChar char="q"/>
            </a:pPr>
            <a:r>
              <a:rPr lang="en-US" dirty="0"/>
              <a:t>In this project we are going to use linear regression for predicting the sales prices of houses.</a:t>
            </a:r>
          </a:p>
          <a:p>
            <a:pPr>
              <a:buFont typeface="Wingdings" panose="05000000000000000000" pitchFamily="2" charset="2"/>
              <a:buChar char="q"/>
            </a:pPr>
            <a:r>
              <a:rPr lang="en-US" dirty="0"/>
              <a:t>First import all the important libraries i.e. </a:t>
            </a:r>
            <a:r>
              <a:rPr lang="en-US" dirty="0" err="1"/>
              <a:t>LinearRegression</a:t>
            </a:r>
            <a:r>
              <a:rPr lang="en-US" dirty="0"/>
              <a:t>, r2_score, confusion matrix, classification report and </a:t>
            </a:r>
            <a:r>
              <a:rPr lang="en-US" dirty="0" err="1"/>
              <a:t>train_test_split</a:t>
            </a:r>
            <a:r>
              <a:rPr lang="en-US" dirty="0"/>
              <a:t> for the training and testing of the model</a:t>
            </a:r>
            <a:r>
              <a:rPr lang="en-IN" dirty="0"/>
              <a:t>.</a:t>
            </a:r>
          </a:p>
          <a:p>
            <a:pPr>
              <a:buFont typeface="Wingdings" panose="05000000000000000000" pitchFamily="2" charset="2"/>
              <a:buChar char="q"/>
            </a:pPr>
            <a:r>
              <a:rPr lang="en-IN" dirty="0"/>
              <a:t>After getting the </a:t>
            </a:r>
            <a:r>
              <a:rPr lang="en-IN" dirty="0" err="1"/>
              <a:t>random_state</a:t>
            </a:r>
            <a:r>
              <a:rPr lang="en-IN" dirty="0"/>
              <a:t> split the data into training and testing.</a:t>
            </a:r>
          </a:p>
          <a:p>
            <a:pPr>
              <a:buFont typeface="Wingdings" panose="05000000000000000000" pitchFamily="2" charset="2"/>
              <a:buChar char="q"/>
            </a:pPr>
            <a:r>
              <a:rPr lang="en-IN" dirty="0"/>
              <a:t>Then fit the training and testing data into the model and check the accuracy score that how well it fits our data.</a:t>
            </a:r>
          </a:p>
          <a:p>
            <a:pPr>
              <a:buFont typeface="Wingdings" panose="05000000000000000000" pitchFamily="2" charset="2"/>
              <a:buChar char="q"/>
            </a:pPr>
            <a:r>
              <a:rPr lang="en-IN" dirty="0"/>
              <a:t>Then perform the cross validation and hyper parameter tunning on the model and plot the ROC AUC curve for the final accuracy.</a:t>
            </a:r>
          </a:p>
          <a:p>
            <a:pPr>
              <a:buFont typeface="Wingdings" panose="05000000000000000000" pitchFamily="2" charset="2"/>
              <a:buChar char="q"/>
            </a:pPr>
            <a:r>
              <a:rPr lang="en-IN" dirty="0"/>
              <a:t>Finally save </a:t>
            </a:r>
            <a:r>
              <a:rPr lang="en-IN" dirty="0" err="1"/>
              <a:t>tho</a:t>
            </a:r>
            <a:r>
              <a:rPr lang="en-IN" dirty="0"/>
              <a:t> model for the later prediction of the model.</a:t>
            </a:r>
            <a:endParaRPr lang="en-US"/>
          </a:p>
          <a:p>
            <a:endParaRPr lang="en-IN"/>
          </a:p>
        </p:txBody>
      </p:sp>
    </p:spTree>
    <p:extLst>
      <p:ext uri="{BB962C8B-B14F-4D97-AF65-F5344CB8AC3E}">
        <p14:creationId xmlns:p14="http://schemas.microsoft.com/office/powerpoint/2010/main" val="290321540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9</TotalTime>
  <Words>836</Words>
  <Application>Microsoft Office PowerPoint</Application>
  <PresentationFormat>Widescreen</PresentationFormat>
  <Paragraphs>45</Paragraphs>
  <Slides>6</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6</vt:i4>
      </vt:variant>
    </vt:vector>
  </HeadingPairs>
  <TitlesOfParts>
    <vt:vector size="12" baseType="lpstr">
      <vt:lpstr>Arial</vt:lpstr>
      <vt:lpstr>Century Gothic</vt:lpstr>
      <vt:lpstr>Helvetica Neue</vt:lpstr>
      <vt:lpstr>Wingdings</vt:lpstr>
      <vt:lpstr>Wingdings 3</vt:lpstr>
      <vt:lpstr>Ion</vt:lpstr>
      <vt:lpstr>Car price prediction project</vt:lpstr>
      <vt:lpstr>Data scrapping </vt:lpstr>
      <vt:lpstr>Model building</vt:lpstr>
      <vt:lpstr>Visualization steps</vt:lpstr>
      <vt:lpstr>Data preprocessing</vt:lpstr>
      <vt:lpstr>Training process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 price prediction project</dc:title>
  <dc:creator>ankush5587@outlook.com</dc:creator>
  <cp:lastModifiedBy>ankush5587@outlook.com</cp:lastModifiedBy>
  <cp:revision>5</cp:revision>
  <dcterms:created xsi:type="dcterms:W3CDTF">2022-03-31T06:10:05Z</dcterms:created>
  <dcterms:modified xsi:type="dcterms:W3CDTF">2022-03-31T06:31:53Z</dcterms:modified>
</cp:coreProperties>
</file>