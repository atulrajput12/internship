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64" r:id="rId3"/>
    <p:sldId id="258" r:id="rId4"/>
    <p:sldId id="259" r:id="rId5"/>
    <p:sldId id="260" r:id="rId6"/>
    <p:sldId id="256" r:id="rId7"/>
    <p:sldId id="261" r:id="rId8"/>
    <p:sldId id="262"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2" d="100"/>
          <a:sy n="92" d="100"/>
        </p:scale>
        <p:origin x="49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5/5/2022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5/5/2022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5/5/2022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5/5/2022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smtClean="0"/>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5/5/2022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5/5/2022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smtClean="0"/>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5/5/2022</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STATEMENT</a:t>
            </a:r>
          </a:p>
        </p:txBody>
      </p:sp>
      <p:sp>
        <p:nvSpPr>
          <p:cNvPr id="3" name="Content Placeholder 2"/>
          <p:cNvSpPr>
            <a:spLocks noGrp="1"/>
          </p:cNvSpPr>
          <p:nvPr>
            <p:ph sz="quarter" idx="13"/>
          </p:nvPr>
        </p:nvSpPr>
        <p:spPr/>
        <p:txBody>
          <a:bodyPr>
            <a:normAutofit fontScale="77500" lnSpcReduction="20000"/>
          </a:bodyPr>
          <a:lstStyle/>
          <a:p>
            <a:r>
              <a:rPr lang="en-US" dirty="0">
                <a:solidFill>
                  <a:srgbClr val="000000"/>
                </a:solidFill>
                <a:latin typeface="Helvetica Neue"/>
              </a:rPr>
              <a:t>Anyone who has booked a flight ticket knows how unexpectedly the prices vary. The cheapest available ticket on a given flight gets more and less expensive over time. This usually happens as an attempt to maximize revenue based on -</a:t>
            </a:r>
          </a:p>
          <a:p>
            <a:pPr>
              <a:buFont typeface="+mj-lt"/>
              <a:buAutoNum type="arabicPeriod"/>
            </a:pPr>
            <a:r>
              <a:rPr lang="en-US" dirty="0">
                <a:solidFill>
                  <a:srgbClr val="000000"/>
                </a:solidFill>
                <a:latin typeface="Helvetica Neue"/>
              </a:rPr>
              <a:t>Time of purchase patterns (making sure last-minute purchases are expensive)</a:t>
            </a:r>
          </a:p>
          <a:p>
            <a:pPr>
              <a:buFont typeface="+mj-lt"/>
              <a:buAutoNum type="arabicPeriod"/>
            </a:pPr>
            <a:r>
              <a:rPr lang="en-US" dirty="0">
                <a:solidFill>
                  <a:srgbClr val="000000"/>
                </a:solidFill>
                <a:latin typeface="Helvetica Neue"/>
              </a:rPr>
              <a:t>Keeping the flight as full as they want it (raising prices on a flight which is filling up in order to reduce sales and hold back inventory for those expensive last-minute expensive purchases)</a:t>
            </a:r>
          </a:p>
          <a:p>
            <a:r>
              <a:rPr lang="en-US" dirty="0">
                <a:solidFill>
                  <a:srgbClr val="000000"/>
                </a:solidFill>
                <a:latin typeface="Helvetica Neue"/>
              </a:rPr>
              <a:t>So, you have to work on a project where you collect data of flight fares with other features and work to make a model to predict fares of flights.</a:t>
            </a:r>
          </a:p>
          <a:p>
            <a:r>
              <a:rPr lang="en-US" dirty="0">
                <a:solidFill>
                  <a:srgbClr val="000000"/>
                </a:solidFill>
                <a:latin typeface="Helvetica Neue"/>
              </a:rPr>
              <a:t>STEPS</a:t>
            </a:r>
          </a:p>
          <a:p>
            <a:endParaRPr lang="en-IN" dirty="0"/>
          </a:p>
          <a:p>
            <a:endParaRPr lang="en-US" dirty="0"/>
          </a:p>
        </p:txBody>
      </p:sp>
    </p:spTree>
    <p:extLst>
      <p:ext uri="{BB962C8B-B14F-4D97-AF65-F5344CB8AC3E}">
        <p14:creationId xmlns:p14="http://schemas.microsoft.com/office/powerpoint/2010/main" val="3923499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STATEMENT</a:t>
            </a:r>
            <a:endParaRPr lang="en-US" dirty="0"/>
          </a:p>
        </p:txBody>
      </p:sp>
      <p:sp>
        <p:nvSpPr>
          <p:cNvPr id="3" name="Content Placeholder 2"/>
          <p:cNvSpPr>
            <a:spLocks noGrp="1"/>
          </p:cNvSpPr>
          <p:nvPr>
            <p:ph sz="quarter" idx="13"/>
          </p:nvPr>
        </p:nvSpPr>
        <p:spPr/>
        <p:txBody>
          <a:bodyPr>
            <a:normAutofit fontScale="92500" lnSpcReduction="10000"/>
          </a:bodyPr>
          <a:lstStyle/>
          <a:p>
            <a:pPr marL="0" lvl="0" indent="0">
              <a:buNone/>
            </a:pPr>
            <a:r>
              <a:rPr lang="en-US" altLang="en-US" b="1" i="1" u="sng" dirty="0"/>
              <a:t>1. Data Collection</a:t>
            </a:r>
          </a:p>
          <a:p>
            <a:pPr lvl="0"/>
            <a:r>
              <a:rPr lang="en-US" altLang="en-US" dirty="0"/>
              <a:t>You have to scrape at least 1500 rows of data. You can scrape more data as well, it’s up to you, More the data better the model In this section you have to scrape the data of flights from different websites (yatra.com, skyscanner.com, official websites of airlines, </a:t>
            </a:r>
            <a:r>
              <a:rPr lang="en-US" altLang="en-US" dirty="0" err="1"/>
              <a:t>etc</a:t>
            </a:r>
            <a:r>
              <a:rPr lang="en-US" altLang="en-US" dirty="0"/>
              <a:t>). The number of columns for data doesn’t have limit, it’s up to you and your creativity. Generally, these columns </a:t>
            </a:r>
            <a:r>
              <a:rPr lang="en-US" altLang="en-US" dirty="0" err="1"/>
              <a:t>areairline</a:t>
            </a:r>
            <a:r>
              <a:rPr lang="en-US" altLang="en-US" dirty="0"/>
              <a:t> name, date of journey, source, destination, route, departure time, arrival time, duration, total stops and the target variable price. You can make changes to it, you can add or you can remove some columns, it completely depends on the website from which you are fetching the data.</a:t>
            </a:r>
          </a:p>
          <a:p>
            <a:endParaRPr lang="en-US" dirty="0"/>
          </a:p>
        </p:txBody>
      </p:sp>
    </p:spTree>
    <p:extLst>
      <p:ext uri="{BB962C8B-B14F-4D97-AF65-F5344CB8AC3E}">
        <p14:creationId xmlns:p14="http://schemas.microsoft.com/office/powerpoint/2010/main" val="877695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STATEMENT</a:t>
            </a:r>
          </a:p>
        </p:txBody>
      </p:sp>
      <p:sp>
        <p:nvSpPr>
          <p:cNvPr id="3" name="Content Placeholder 2"/>
          <p:cNvSpPr>
            <a:spLocks noGrp="1"/>
          </p:cNvSpPr>
          <p:nvPr>
            <p:ph sz="quarter" idx="13"/>
          </p:nvPr>
        </p:nvSpPr>
        <p:spPr/>
        <p:txBody>
          <a:bodyPr/>
          <a:lstStyle/>
          <a:p>
            <a:pPr marL="0" lvl="0" indent="0">
              <a:buNone/>
            </a:pPr>
            <a:r>
              <a:rPr lang="en-US" altLang="en-US" b="1" i="1" u="sng" dirty="0"/>
              <a:t>2. Data Analysis</a:t>
            </a:r>
          </a:p>
          <a:p>
            <a:pPr marL="0" lvl="0" indent="0">
              <a:buNone/>
            </a:pPr>
            <a:r>
              <a:rPr lang="en-US" altLang="en-US" dirty="0"/>
              <a:t>After cleaning the data, you have to do some analysis on the data. Do airfares change frequently? Do they move in small increments or in large jumps? Do they tend to go up or down over time? What is the best time to buy so that the consumer can save the most by taking the least risk? Does price increase as we get near to departure date? Is Indigo cheaper than Jet Airways? Are morning flights expensive?</a:t>
            </a:r>
          </a:p>
          <a:p>
            <a:endParaRPr lang="en-US" dirty="0"/>
          </a:p>
        </p:txBody>
      </p:sp>
    </p:spTree>
    <p:extLst>
      <p:ext uri="{BB962C8B-B14F-4D97-AF65-F5344CB8AC3E}">
        <p14:creationId xmlns:p14="http://schemas.microsoft.com/office/powerpoint/2010/main" val="3303275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STATEMENT</a:t>
            </a:r>
          </a:p>
        </p:txBody>
      </p:sp>
      <p:sp>
        <p:nvSpPr>
          <p:cNvPr id="3" name="Content Placeholder 2"/>
          <p:cNvSpPr>
            <a:spLocks noGrp="1"/>
          </p:cNvSpPr>
          <p:nvPr>
            <p:ph sz="quarter" idx="13"/>
          </p:nvPr>
        </p:nvSpPr>
        <p:spPr/>
        <p:txBody>
          <a:bodyPr>
            <a:normAutofit fontScale="62500" lnSpcReduction="20000"/>
          </a:bodyPr>
          <a:lstStyle/>
          <a:p>
            <a:pPr marL="0" lvl="0" indent="0">
              <a:buNone/>
            </a:pPr>
            <a:r>
              <a:rPr lang="en-US" altLang="en-US" b="1" i="1" u="sng" dirty="0"/>
              <a:t>3. Model Building</a:t>
            </a:r>
          </a:p>
          <a:p>
            <a:pPr marL="0" lvl="0" indent="0">
              <a:buNone/>
            </a:pPr>
            <a:r>
              <a:rPr lang="en-US" altLang="en-US" dirty="0"/>
              <a:t>After collecting the data, you need to build a machine learning model. Before model building do all data pre-processing steps. Try different models with different hyper parameters and select the </a:t>
            </a:r>
            <a:r>
              <a:rPr lang="en-US" altLang="en-US" dirty="0" err="1"/>
              <a:t>bestmodel</a:t>
            </a:r>
            <a:r>
              <a:rPr lang="en-US" altLang="en-US" dirty="0"/>
              <a:t>.</a:t>
            </a:r>
          </a:p>
          <a:p>
            <a:pPr marL="0" lvl="0" indent="0">
              <a:buNone/>
            </a:pPr>
            <a:endParaRPr lang="en-US" altLang="en-US" dirty="0"/>
          </a:p>
          <a:p>
            <a:pPr marL="0" lvl="0" indent="0">
              <a:buNone/>
            </a:pPr>
            <a:r>
              <a:rPr lang="en-US" altLang="en-US" dirty="0"/>
              <a:t>Follow the complete life cycle of data science. Include all the steps like</a:t>
            </a:r>
          </a:p>
          <a:p>
            <a:pPr lvl="0"/>
            <a:r>
              <a:rPr lang="en-US" altLang="en-US" dirty="0"/>
              <a:t>Data Cleaning</a:t>
            </a:r>
          </a:p>
          <a:p>
            <a:pPr lvl="0"/>
            <a:r>
              <a:rPr lang="en-US" altLang="en-US" dirty="0"/>
              <a:t>Exploratory Data Analysis</a:t>
            </a:r>
          </a:p>
          <a:p>
            <a:pPr lvl="0"/>
            <a:r>
              <a:rPr lang="en-US" altLang="en-US" dirty="0"/>
              <a:t>Data Pre-processing</a:t>
            </a:r>
          </a:p>
          <a:p>
            <a:pPr lvl="0"/>
            <a:r>
              <a:rPr lang="en-US" altLang="en-US" dirty="0"/>
              <a:t>Model Building</a:t>
            </a:r>
          </a:p>
          <a:p>
            <a:pPr lvl="0"/>
            <a:r>
              <a:rPr lang="en-US" altLang="en-US" dirty="0"/>
              <a:t>Model Evaluation</a:t>
            </a:r>
          </a:p>
          <a:p>
            <a:pPr lvl="0"/>
            <a:r>
              <a:rPr lang="en-US" altLang="en-US" dirty="0"/>
              <a:t>Selecting the best model</a:t>
            </a:r>
          </a:p>
          <a:p>
            <a:pPr lvl="0"/>
            <a:endParaRPr lang="en-US" altLang="en-US" dirty="0"/>
          </a:p>
          <a:p>
            <a:endParaRPr lang="en-US" dirty="0"/>
          </a:p>
        </p:txBody>
      </p:sp>
    </p:spTree>
    <p:extLst>
      <p:ext uri="{BB962C8B-B14F-4D97-AF65-F5344CB8AC3E}">
        <p14:creationId xmlns:p14="http://schemas.microsoft.com/office/powerpoint/2010/main" val="2050528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SCRAPPING WITH SELENIUM</a:t>
            </a:r>
            <a:endParaRPr lang="en-US" dirty="0"/>
          </a:p>
        </p:txBody>
      </p:sp>
      <p:sp>
        <p:nvSpPr>
          <p:cNvPr id="3" name="Content Placeholder 2"/>
          <p:cNvSpPr>
            <a:spLocks noGrp="1"/>
          </p:cNvSpPr>
          <p:nvPr>
            <p:ph sz="quarter" idx="13"/>
          </p:nvPr>
        </p:nvSpPr>
        <p:spPr/>
        <p:txBody>
          <a:bodyPr/>
          <a:lstStyle/>
          <a:p>
            <a:pPr>
              <a:buFont typeface="Wingdings" panose="05000000000000000000" pitchFamily="2" charset="2"/>
              <a:buChar char="q"/>
            </a:pPr>
            <a:r>
              <a:rPr lang="en-US" dirty="0" err="1" smtClean="0"/>
              <a:t>FiRST</a:t>
            </a:r>
            <a:r>
              <a:rPr lang="en-US" dirty="0" smtClean="0"/>
              <a:t> WE WILL SCRAP THE DATA FOR MODEL BUILDING , FOR THAT PURPOSE IMPORT ALL THE REQUIRED LIBRARIES LIKE:- SELENIUM, WEBDRIVER, PANDAS ETC.</a:t>
            </a:r>
          </a:p>
          <a:p>
            <a:pPr>
              <a:buFont typeface="Wingdings" panose="05000000000000000000" pitchFamily="2" charset="2"/>
              <a:buChar char="q"/>
            </a:pPr>
            <a:r>
              <a:rPr lang="en-US" dirty="0" smtClean="0"/>
              <a:t>THEN USING DRIVER IMPORT THE CHROMEDRIVER.EXE AND THEN IMPORT THE WEBPAGE FROM WHERE WE HAVE TO SCRAP THE DATA</a:t>
            </a:r>
          </a:p>
          <a:p>
            <a:pPr>
              <a:buFont typeface="Wingdings" panose="05000000000000000000" pitchFamily="2" charset="2"/>
              <a:buChar char="q"/>
            </a:pPr>
            <a:r>
              <a:rPr lang="en-US" dirty="0" smtClean="0"/>
              <a:t>THEN CREATE SOME EMPTY LIST TO STORE THE SCRAPPED DATA</a:t>
            </a:r>
          </a:p>
          <a:p>
            <a:pPr>
              <a:buFont typeface="Wingdings" panose="05000000000000000000" pitchFamily="2" charset="2"/>
              <a:buChar char="q"/>
            </a:pPr>
            <a:r>
              <a:rPr lang="en-US" dirty="0" smtClean="0"/>
              <a:t>AFTER THIS USING XPATH SCRAP ALL THE REQUIRED DATA AND MAKE DATA FRAME OF IT SO THAT WE CAN USE THAT DATA FRAME FOR MODEL BUILDING</a:t>
            </a:r>
            <a:endParaRPr lang="en-US" dirty="0"/>
          </a:p>
        </p:txBody>
      </p:sp>
    </p:spTree>
    <p:extLst>
      <p:ext uri="{BB962C8B-B14F-4D97-AF65-F5344CB8AC3E}">
        <p14:creationId xmlns:p14="http://schemas.microsoft.com/office/powerpoint/2010/main" val="2626211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MODEL BUILDING:-</a:t>
            </a:r>
            <a:br>
              <a:rPr lang="en-US" dirty="0" smtClean="0"/>
            </a:br>
            <a:r>
              <a:rPr lang="en-US" dirty="0" smtClean="0"/>
              <a:t>EDA STEPS</a:t>
            </a:r>
            <a:endParaRPr lang="en-US" dirty="0"/>
          </a:p>
        </p:txBody>
      </p:sp>
      <p:sp>
        <p:nvSpPr>
          <p:cNvPr id="5" name="Content Placeholder 4"/>
          <p:cNvSpPr>
            <a:spLocks noGrp="1"/>
          </p:cNvSpPr>
          <p:nvPr>
            <p:ph sz="quarter" idx="13"/>
          </p:nvPr>
        </p:nvSpPr>
        <p:spPr/>
        <p:txBody>
          <a:bodyPr/>
          <a:lstStyle/>
          <a:p>
            <a:pPr marL="45720" indent="0">
              <a:buNone/>
            </a:pPr>
            <a:r>
              <a:rPr lang="en-US" dirty="0">
                <a:solidFill>
                  <a:srgbClr val="FFC000"/>
                </a:solidFill>
              </a:rPr>
              <a:t>1.Import  All the important Libraries</a:t>
            </a:r>
          </a:p>
          <a:p>
            <a:pPr marL="45720" indent="0">
              <a:buNone/>
            </a:pPr>
            <a:r>
              <a:rPr lang="en-US" dirty="0">
                <a:solidFill>
                  <a:srgbClr val="FFC000"/>
                </a:solidFill>
              </a:rPr>
              <a:t>2.Load the data set which is to be used for analysis</a:t>
            </a:r>
          </a:p>
          <a:p>
            <a:pPr marL="45720" indent="0">
              <a:buNone/>
            </a:pPr>
            <a:r>
              <a:rPr lang="en-US" dirty="0">
                <a:solidFill>
                  <a:srgbClr val="FFC000"/>
                </a:solidFill>
              </a:rPr>
              <a:t>3.Check for the null values in the dataset</a:t>
            </a:r>
          </a:p>
          <a:p>
            <a:pPr lvl="1" algn="just">
              <a:buFont typeface="Wingdings" panose="05000000000000000000" pitchFamily="2" charset="2"/>
              <a:buChar char="Ø"/>
            </a:pPr>
            <a:r>
              <a:rPr lang="en-US" dirty="0">
                <a:solidFill>
                  <a:srgbClr val="FFC000"/>
                </a:solidFill>
              </a:rPr>
              <a:t>If there are null values fill them using </a:t>
            </a:r>
            <a:r>
              <a:rPr lang="en-US" dirty="0" err="1">
                <a:solidFill>
                  <a:srgbClr val="FFC000"/>
                </a:solidFill>
              </a:rPr>
              <a:t>fillna</a:t>
            </a:r>
            <a:r>
              <a:rPr lang="en-US" dirty="0">
                <a:solidFill>
                  <a:srgbClr val="FFC000"/>
                </a:solidFill>
              </a:rPr>
              <a:t> method</a:t>
            </a:r>
          </a:p>
          <a:p>
            <a:pPr marL="45720" indent="0" algn="just">
              <a:buNone/>
            </a:pPr>
            <a:r>
              <a:rPr lang="en-US" dirty="0">
                <a:solidFill>
                  <a:srgbClr val="FFC000"/>
                </a:solidFill>
              </a:rPr>
              <a:t>4. Check data description</a:t>
            </a:r>
          </a:p>
          <a:p>
            <a:pPr lvl="1" algn="just">
              <a:buFont typeface="Wingdings" panose="05000000000000000000" pitchFamily="2" charset="2"/>
              <a:buChar char="q"/>
            </a:pPr>
            <a:r>
              <a:rPr lang="en-IN" dirty="0">
                <a:solidFill>
                  <a:srgbClr val="FFC000"/>
                </a:solidFill>
              </a:rPr>
              <a:t> data description show full description of every column like:- std,mean,median,25% of the column and some other important information about every columns</a:t>
            </a:r>
          </a:p>
          <a:p>
            <a:endParaRPr lang="en-IN" dirty="0"/>
          </a:p>
          <a:p>
            <a:endParaRPr lang="en-US" dirty="0"/>
          </a:p>
        </p:txBody>
      </p:sp>
    </p:spTree>
    <p:extLst>
      <p:ext uri="{BB962C8B-B14F-4D97-AF65-F5344CB8AC3E}">
        <p14:creationId xmlns:p14="http://schemas.microsoft.com/office/powerpoint/2010/main" val="4242144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VISULIZATION STEPS</a:t>
            </a:r>
            <a:endParaRPr lang="en-US" dirty="0"/>
          </a:p>
        </p:txBody>
      </p:sp>
      <p:sp>
        <p:nvSpPr>
          <p:cNvPr id="3" name="Content Placeholder 2"/>
          <p:cNvSpPr>
            <a:spLocks noGrp="1"/>
          </p:cNvSpPr>
          <p:nvPr>
            <p:ph sz="quarter" idx="13"/>
          </p:nvPr>
        </p:nvSpPr>
        <p:spPr/>
        <p:txBody>
          <a:bodyPr>
            <a:normAutofit fontScale="85000" lnSpcReduction="10000"/>
          </a:bodyPr>
          <a:lstStyle/>
          <a:p>
            <a:pPr>
              <a:buFont typeface="Wingdings" panose="05000000000000000000" pitchFamily="2" charset="2"/>
              <a:buChar char="v"/>
            </a:pPr>
            <a:r>
              <a:rPr lang="en-US" dirty="0">
                <a:solidFill>
                  <a:srgbClr val="FFC000"/>
                </a:solidFill>
              </a:rPr>
              <a:t>Check for correlation in the columns using </a:t>
            </a:r>
            <a:r>
              <a:rPr lang="en-US" dirty="0" err="1">
                <a:solidFill>
                  <a:srgbClr val="FFC000"/>
                </a:solidFill>
              </a:rPr>
              <a:t>heatmap</a:t>
            </a:r>
            <a:r>
              <a:rPr lang="en-US" dirty="0">
                <a:solidFill>
                  <a:srgbClr val="FFC000"/>
                </a:solidFill>
              </a:rPr>
              <a:t> or other techniques</a:t>
            </a:r>
          </a:p>
          <a:p>
            <a:pPr lvl="1" algn="just">
              <a:buFont typeface="Wingdings" panose="05000000000000000000" pitchFamily="2" charset="2"/>
              <a:buChar char="q"/>
            </a:pPr>
            <a:r>
              <a:rPr lang="en-US" dirty="0">
                <a:solidFill>
                  <a:srgbClr val="FFC000"/>
                </a:solidFill>
              </a:rPr>
              <a:t>Using correlation we can check that if any columns having high correlation with each other</a:t>
            </a:r>
            <a:r>
              <a:rPr lang="en-IN" dirty="0">
                <a:solidFill>
                  <a:srgbClr val="FFC000"/>
                </a:solidFill>
              </a:rPr>
              <a:t> we can remove one of them</a:t>
            </a:r>
            <a:endParaRPr lang="en-US" dirty="0">
              <a:solidFill>
                <a:srgbClr val="FFC000"/>
              </a:solidFill>
            </a:endParaRPr>
          </a:p>
          <a:p>
            <a:pPr>
              <a:buFont typeface="Wingdings" panose="05000000000000000000" pitchFamily="2" charset="2"/>
              <a:buChar char="v"/>
            </a:pPr>
            <a:r>
              <a:rPr lang="en-IN" dirty="0">
                <a:solidFill>
                  <a:srgbClr val="FFC000"/>
                </a:solidFill>
              </a:rPr>
              <a:t> After checking correlation we plot the graph for data distribution among all the columns</a:t>
            </a:r>
          </a:p>
          <a:p>
            <a:pPr>
              <a:buFont typeface="Wingdings" panose="05000000000000000000" pitchFamily="2" charset="2"/>
              <a:buChar char="v"/>
            </a:pPr>
            <a:r>
              <a:rPr lang="en-IN" dirty="0">
                <a:solidFill>
                  <a:srgbClr val="FFC000"/>
                </a:solidFill>
              </a:rPr>
              <a:t> With the help of data distribution graph we can see that data is distributed well or not , if not distributed well we can check skewness using </a:t>
            </a:r>
            <a:r>
              <a:rPr lang="en-IN" dirty="0" err="1">
                <a:solidFill>
                  <a:srgbClr val="FFC000"/>
                </a:solidFill>
              </a:rPr>
              <a:t>data.skew</a:t>
            </a:r>
            <a:r>
              <a:rPr lang="en-IN" dirty="0">
                <a:solidFill>
                  <a:srgbClr val="FFC000"/>
                </a:solidFill>
              </a:rPr>
              <a:t>() method</a:t>
            </a:r>
          </a:p>
          <a:p>
            <a:pPr>
              <a:buFont typeface="Wingdings" panose="05000000000000000000" pitchFamily="2" charset="2"/>
              <a:buChar char="v"/>
            </a:pPr>
            <a:r>
              <a:rPr lang="en-IN" dirty="0">
                <a:solidFill>
                  <a:srgbClr val="FFC000"/>
                </a:solidFill>
              </a:rPr>
              <a:t>If the value of any column is in between +0.5 and -0.5 that means data is distributed well otherwise there is skewness in the data</a:t>
            </a:r>
          </a:p>
          <a:p>
            <a:pPr>
              <a:buFont typeface="Wingdings" panose="05000000000000000000" pitchFamily="2" charset="2"/>
              <a:buChar char="v"/>
            </a:pPr>
            <a:r>
              <a:rPr lang="en-IN" dirty="0">
                <a:solidFill>
                  <a:srgbClr val="FFC000"/>
                </a:solidFill>
              </a:rPr>
              <a:t> Remove data skewness, I use </a:t>
            </a:r>
            <a:r>
              <a:rPr lang="en-IN" dirty="0" err="1">
                <a:solidFill>
                  <a:srgbClr val="FFC000"/>
                </a:solidFill>
              </a:rPr>
              <a:t>np.sqrt</a:t>
            </a:r>
            <a:r>
              <a:rPr lang="en-IN" dirty="0">
                <a:solidFill>
                  <a:srgbClr val="FFC000"/>
                </a:solidFill>
              </a:rPr>
              <a:t>() method here for removing the skewness.</a:t>
            </a:r>
          </a:p>
          <a:p>
            <a:endParaRPr lang="en-IN" dirty="0"/>
          </a:p>
          <a:p>
            <a:endParaRPr lang="en-US" dirty="0"/>
          </a:p>
        </p:txBody>
      </p:sp>
    </p:spTree>
    <p:extLst>
      <p:ext uri="{BB962C8B-B14F-4D97-AF65-F5344CB8AC3E}">
        <p14:creationId xmlns:p14="http://schemas.microsoft.com/office/powerpoint/2010/main" val="2100700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PREPROCESSING</a:t>
            </a:r>
            <a:endParaRPr lang="en-US" dirty="0"/>
          </a:p>
        </p:txBody>
      </p:sp>
      <p:sp>
        <p:nvSpPr>
          <p:cNvPr id="3" name="Content Placeholder 2"/>
          <p:cNvSpPr>
            <a:spLocks noGrp="1"/>
          </p:cNvSpPr>
          <p:nvPr>
            <p:ph sz="quarter" idx="13"/>
          </p:nvPr>
        </p:nvSpPr>
        <p:spPr/>
        <p:txBody>
          <a:bodyPr/>
          <a:lstStyle/>
          <a:p>
            <a:pPr>
              <a:buFont typeface="Wingdings" panose="05000000000000000000" pitchFamily="2" charset="2"/>
              <a:buChar char="ü"/>
            </a:pPr>
            <a:r>
              <a:rPr lang="en-US" dirty="0">
                <a:solidFill>
                  <a:srgbClr val="FFC000"/>
                </a:solidFill>
              </a:rPr>
              <a:t>After handling skewness check for outliers</a:t>
            </a:r>
            <a:endParaRPr lang="en-IN" dirty="0">
              <a:solidFill>
                <a:srgbClr val="FFC000"/>
              </a:solidFill>
            </a:endParaRPr>
          </a:p>
          <a:p>
            <a:pPr>
              <a:buFont typeface="Wingdings" panose="05000000000000000000" pitchFamily="2" charset="2"/>
              <a:buChar char="ü"/>
            </a:pPr>
            <a:r>
              <a:rPr lang="en-IN" dirty="0">
                <a:solidFill>
                  <a:srgbClr val="FFC000"/>
                </a:solidFill>
              </a:rPr>
              <a:t>After checking for outlier scaled the data using </a:t>
            </a:r>
            <a:r>
              <a:rPr lang="en-IN" dirty="0" err="1">
                <a:solidFill>
                  <a:srgbClr val="FFC000"/>
                </a:solidFill>
              </a:rPr>
              <a:t>StandardScaler</a:t>
            </a:r>
            <a:endParaRPr lang="en-IN" dirty="0">
              <a:solidFill>
                <a:srgbClr val="FFC000"/>
              </a:solidFill>
            </a:endParaRPr>
          </a:p>
          <a:p>
            <a:pPr>
              <a:buFont typeface="Wingdings" panose="05000000000000000000" pitchFamily="2" charset="2"/>
              <a:buChar char="ü"/>
            </a:pPr>
            <a:r>
              <a:rPr lang="en-IN" dirty="0">
                <a:solidFill>
                  <a:srgbClr val="FFC000"/>
                </a:solidFill>
              </a:rPr>
              <a:t> Now check for </a:t>
            </a:r>
            <a:r>
              <a:rPr lang="en-IN" dirty="0" err="1">
                <a:solidFill>
                  <a:srgbClr val="FFC000"/>
                </a:solidFill>
              </a:rPr>
              <a:t>vif</a:t>
            </a:r>
            <a:r>
              <a:rPr lang="en-IN" dirty="0">
                <a:solidFill>
                  <a:srgbClr val="FFC000"/>
                </a:solidFill>
              </a:rPr>
              <a:t> score for every column, which column having </a:t>
            </a:r>
            <a:r>
              <a:rPr lang="en-IN" dirty="0" err="1">
                <a:solidFill>
                  <a:srgbClr val="FFC000"/>
                </a:solidFill>
              </a:rPr>
              <a:t>vif</a:t>
            </a:r>
            <a:r>
              <a:rPr lang="en-IN" dirty="0">
                <a:solidFill>
                  <a:srgbClr val="FFC000"/>
                </a:solidFill>
              </a:rPr>
              <a:t> score more than 5 remove that column</a:t>
            </a:r>
            <a:endParaRPr lang="en-US" dirty="0">
              <a:solidFill>
                <a:srgbClr val="FFC000"/>
              </a:solidFill>
            </a:endParaRPr>
          </a:p>
          <a:p>
            <a:endParaRPr lang="en-IN" dirty="0"/>
          </a:p>
          <a:p>
            <a:endParaRPr lang="en-US" dirty="0"/>
          </a:p>
        </p:txBody>
      </p:sp>
    </p:spTree>
    <p:extLst>
      <p:ext uri="{BB962C8B-B14F-4D97-AF65-F5344CB8AC3E}">
        <p14:creationId xmlns:p14="http://schemas.microsoft.com/office/powerpoint/2010/main" val="2471992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TRAINING MODEL</a:t>
            </a:r>
            <a:endParaRPr lang="en-US" dirty="0"/>
          </a:p>
        </p:txBody>
      </p:sp>
      <p:sp>
        <p:nvSpPr>
          <p:cNvPr id="3" name="Content Placeholder 2"/>
          <p:cNvSpPr>
            <a:spLocks noGrp="1"/>
          </p:cNvSpPr>
          <p:nvPr>
            <p:ph sz="quarter" idx="13"/>
          </p:nvPr>
        </p:nvSpPr>
        <p:spPr/>
        <p:txBody>
          <a:bodyPr>
            <a:normAutofit fontScale="77500" lnSpcReduction="20000"/>
          </a:bodyPr>
          <a:lstStyle/>
          <a:p>
            <a:pPr>
              <a:buFont typeface="Wingdings" panose="05000000000000000000" pitchFamily="2" charset="2"/>
              <a:buChar char="q"/>
            </a:pPr>
            <a:r>
              <a:rPr lang="en-US" dirty="0"/>
              <a:t>In this project we are going to use linear regression for predicting the </a:t>
            </a:r>
            <a:r>
              <a:rPr lang="en-US" dirty="0" smtClean="0"/>
              <a:t>PRICES OF FLIGHTS.</a:t>
            </a:r>
            <a:endParaRPr lang="en-US" dirty="0"/>
          </a:p>
          <a:p>
            <a:pPr>
              <a:buFont typeface="Wingdings" panose="05000000000000000000" pitchFamily="2" charset="2"/>
              <a:buChar char="q"/>
            </a:pPr>
            <a:r>
              <a:rPr lang="en-US" dirty="0"/>
              <a:t>First import all the important libraries i.e. </a:t>
            </a:r>
            <a:r>
              <a:rPr lang="en-US" dirty="0" err="1"/>
              <a:t>LogisticRegression</a:t>
            </a:r>
            <a:r>
              <a:rPr lang="en-US" dirty="0"/>
              <a:t>, </a:t>
            </a:r>
            <a:r>
              <a:rPr lang="en-US" dirty="0" err="1"/>
              <a:t>accuracy_score</a:t>
            </a:r>
            <a:r>
              <a:rPr lang="en-US" dirty="0"/>
              <a:t>, confusion matrix, classification report and </a:t>
            </a:r>
            <a:r>
              <a:rPr lang="en-US" dirty="0" err="1"/>
              <a:t>train_test_split</a:t>
            </a:r>
            <a:r>
              <a:rPr lang="en-US" dirty="0"/>
              <a:t> for the training and testing of the model</a:t>
            </a:r>
            <a:r>
              <a:rPr lang="en-IN" dirty="0"/>
              <a:t>.</a:t>
            </a:r>
          </a:p>
          <a:p>
            <a:pPr>
              <a:buFont typeface="Wingdings" panose="05000000000000000000" pitchFamily="2" charset="2"/>
              <a:buChar char="q"/>
            </a:pPr>
            <a:r>
              <a:rPr lang="en-IN" dirty="0"/>
              <a:t>After getting the </a:t>
            </a:r>
            <a:r>
              <a:rPr lang="en-IN" dirty="0" err="1"/>
              <a:t>random_state</a:t>
            </a:r>
            <a:r>
              <a:rPr lang="en-IN" dirty="0"/>
              <a:t> split the data into training and testing.</a:t>
            </a:r>
          </a:p>
          <a:p>
            <a:pPr>
              <a:buFont typeface="Wingdings" panose="05000000000000000000" pitchFamily="2" charset="2"/>
              <a:buChar char="q"/>
            </a:pPr>
            <a:r>
              <a:rPr lang="en-IN" dirty="0"/>
              <a:t>Then fit the training and testing data into the model and check the accuracy score that how well it fits our data.</a:t>
            </a:r>
          </a:p>
          <a:p>
            <a:pPr>
              <a:buFont typeface="Wingdings" panose="05000000000000000000" pitchFamily="2" charset="2"/>
              <a:buChar char="q"/>
            </a:pPr>
            <a:r>
              <a:rPr lang="en-IN" dirty="0"/>
              <a:t>After this use 2-3 more model like </a:t>
            </a:r>
            <a:r>
              <a:rPr lang="en-IN" dirty="0" smtClean="0"/>
              <a:t>LASSO REGRESSION , RIDGE REGRESSION </a:t>
            </a:r>
            <a:r>
              <a:rPr lang="en-IN" dirty="0" err="1" smtClean="0"/>
              <a:t>etc</a:t>
            </a:r>
            <a:endParaRPr lang="en-IN" dirty="0"/>
          </a:p>
          <a:p>
            <a:pPr>
              <a:buFont typeface="Wingdings" panose="05000000000000000000" pitchFamily="2" charset="2"/>
              <a:buChar char="q"/>
            </a:pPr>
            <a:r>
              <a:rPr lang="en-IN" dirty="0"/>
              <a:t>Then perform the cross validation and hyper parameter </a:t>
            </a:r>
            <a:r>
              <a:rPr lang="en-IN" dirty="0" err="1"/>
              <a:t>tunning</a:t>
            </a:r>
            <a:r>
              <a:rPr lang="en-IN" dirty="0"/>
              <a:t> on the model and plot the ROC AUC curve for the final accuracy.</a:t>
            </a:r>
          </a:p>
          <a:p>
            <a:pPr>
              <a:buFont typeface="Wingdings" panose="05000000000000000000" pitchFamily="2" charset="2"/>
              <a:buChar char="q"/>
            </a:pPr>
            <a:r>
              <a:rPr lang="en-IN" dirty="0"/>
              <a:t>Finally save </a:t>
            </a:r>
            <a:r>
              <a:rPr lang="en-IN" dirty="0" err="1"/>
              <a:t>tho</a:t>
            </a:r>
            <a:r>
              <a:rPr lang="en-IN" dirty="0"/>
              <a:t> model for the later prediction of the model.</a:t>
            </a:r>
            <a:endParaRPr lang="en-US" dirty="0"/>
          </a:p>
          <a:p>
            <a:endParaRPr lang="en-IN" dirty="0"/>
          </a:p>
          <a:p>
            <a:endParaRPr lang="en-US" dirty="0"/>
          </a:p>
        </p:txBody>
      </p:sp>
    </p:spTree>
    <p:extLst>
      <p:ext uri="{BB962C8B-B14F-4D97-AF65-F5344CB8AC3E}">
        <p14:creationId xmlns:p14="http://schemas.microsoft.com/office/powerpoint/2010/main" val="1842533676"/>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41</TotalTime>
  <Words>872</Words>
  <Application>Microsoft Office PowerPoint</Application>
  <PresentationFormat>Widescreen</PresentationFormat>
  <Paragraphs>54</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Helvetica Neue</vt:lpstr>
      <vt:lpstr>Tw Cen MT</vt:lpstr>
      <vt:lpstr>Wingdings</vt:lpstr>
      <vt:lpstr>Droplet</vt:lpstr>
      <vt:lpstr>PROBLEM STATEMENT</vt:lpstr>
      <vt:lpstr>PROBLEM STATEMENT</vt:lpstr>
      <vt:lpstr>PROBLEM STATEMENT</vt:lpstr>
      <vt:lpstr>PROBLEM STATEMENT</vt:lpstr>
      <vt:lpstr>DATA SCRAPPING WITH SELENIUM</vt:lpstr>
      <vt:lpstr>MODEL BUILDING:- EDA STEPS</vt:lpstr>
      <vt:lpstr>VISULIZATION STEPS</vt:lpstr>
      <vt:lpstr>DATA PREPROCESSING</vt:lpstr>
      <vt:lpstr>TRAINING MODEL</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EDA STEPS</dc:title>
  <dc:creator>Admin</dc:creator>
  <cp:lastModifiedBy>Admin</cp:lastModifiedBy>
  <cp:revision>5</cp:revision>
  <dcterms:created xsi:type="dcterms:W3CDTF">2022-05-05T15:01:19Z</dcterms:created>
  <dcterms:modified xsi:type="dcterms:W3CDTF">2022-05-05T15:42:28Z</dcterms:modified>
</cp:coreProperties>
</file>