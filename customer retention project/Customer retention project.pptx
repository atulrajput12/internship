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50" r:id="rId1"/>
  </p:sldMasterIdLst>
  <p:sldIdLst>
    <p:sldId id="256" r:id="rId2"/>
    <p:sldId id="257" r:id="rId3"/>
    <p:sldId id="258"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100" d="100"/>
          <a:sy n="100" d="100"/>
        </p:scale>
        <p:origin x="-29" y="2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smtClean="0"/>
              <a:t>2/13/2022</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4FAB73BC-B049-4115-A692-8D63A059BFB8}" type="slidenum">
              <a:rPr lang="en-US" smtClean="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56521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smtClean="0"/>
              <a:t>2/13/2022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5217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smtClean="0"/>
              <a:t>2/13/2022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987707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DFF08F-DC6B-4601-B491-B0F83F6DD2DA}" type="datetimeFigureOut">
              <a:rPr lang="en-US" smtClean="0"/>
              <a:t>2/13/2022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740595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DFF08F-DC6B-4601-B491-B0F83F6DD2DA}" type="datetimeFigureOut">
              <a:rPr lang="en-US" smtClean="0"/>
              <a:t>2/13/2022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774595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DFF08F-DC6B-4601-B491-B0F83F6DD2DA}" type="datetimeFigureOut">
              <a:rPr lang="en-US" smtClean="0"/>
              <a:t>2/13/2022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363248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DFF08F-DC6B-4601-B491-B0F83F6DD2DA}" type="datetimeFigureOut">
              <a:rPr lang="en-US" smtClean="0"/>
              <a:t>2/13/2022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9877208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smtClean="0"/>
              <a:t>2/13/2022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934791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96DFF08F-DC6B-4601-B491-B0F83F6DD2DA}" type="datetimeFigureOut">
              <a:rPr lang="en-US" smtClean="0"/>
              <a:t>2/13/2022</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00325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smtClean="0"/>
              <a:t>2/13/2022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264829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smtClean="0"/>
              <a:t>2/13/2022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941309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96DFF08F-DC6B-4601-B491-B0F83F6DD2DA}" type="datetimeFigureOut">
              <a:rPr lang="en-US" smtClean="0"/>
              <a:pPr/>
              <a:t>2/13/2022</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4FAB73BC-B049-4115-A692-8D63A059BFB8}" type="slidenum">
              <a:rPr lang="en-US" smtClean="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5365902"/>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ww.researchgate.net/publication/346412647_E-retail_factors_for_customer_activation_and_retention_An_empirical_study_from_Indian_e-commerce_customers"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6E11D-19AF-45FB-8B29-EA114241B0AE}"/>
              </a:ext>
            </a:extLst>
          </p:cNvPr>
          <p:cNvSpPr>
            <a:spLocks noGrp="1"/>
          </p:cNvSpPr>
          <p:nvPr>
            <p:ph type="title"/>
          </p:nvPr>
        </p:nvSpPr>
        <p:spPr/>
        <p:txBody>
          <a:bodyPr>
            <a:normAutofit/>
          </a:bodyPr>
          <a:lstStyle/>
          <a:p>
            <a:r>
              <a:rPr lang="en-US" sz="4800" dirty="0">
                <a:solidFill>
                  <a:srgbClr val="FF0000"/>
                </a:solidFill>
              </a:rPr>
              <a:t>Customer</a:t>
            </a:r>
            <a:r>
              <a:rPr lang="en-US" sz="4800" dirty="0"/>
              <a:t> </a:t>
            </a:r>
            <a:r>
              <a:rPr lang="en-US" sz="4800" b="0" dirty="0">
                <a:solidFill>
                  <a:srgbClr val="FF0000"/>
                </a:solidFill>
              </a:rPr>
              <a:t>retention</a:t>
            </a:r>
            <a:r>
              <a:rPr lang="en-US" sz="4800" dirty="0"/>
              <a:t> </a:t>
            </a:r>
            <a:r>
              <a:rPr lang="en-US" sz="4800" dirty="0">
                <a:solidFill>
                  <a:srgbClr val="FF0000"/>
                </a:solidFill>
              </a:rPr>
              <a:t>project</a:t>
            </a:r>
            <a:endParaRPr lang="en-IN" sz="4800" dirty="0">
              <a:solidFill>
                <a:srgbClr val="FF0000"/>
              </a:solidFill>
            </a:endParaRPr>
          </a:p>
        </p:txBody>
      </p:sp>
      <p:sp>
        <p:nvSpPr>
          <p:cNvPr id="3" name="Subtitle 2">
            <a:extLst>
              <a:ext uri="{FF2B5EF4-FFF2-40B4-BE49-F238E27FC236}">
                <a16:creationId xmlns:a16="http://schemas.microsoft.com/office/drawing/2014/main" id="{E5A54B8D-3B68-4511-BE35-54DBACF44728}"/>
              </a:ext>
            </a:extLst>
          </p:cNvPr>
          <p:cNvSpPr>
            <a:spLocks noGrp="1"/>
          </p:cNvSpPr>
          <p:nvPr>
            <p:ph idx="1"/>
          </p:nvPr>
        </p:nvSpPr>
        <p:spPr>
          <a:xfrm>
            <a:off x="1451579" y="2015732"/>
            <a:ext cx="9603275" cy="4037749"/>
          </a:xfrm>
        </p:spPr>
        <p:txBody>
          <a:bodyPr>
            <a:normAutofit fontScale="25000" lnSpcReduction="20000"/>
          </a:bodyPr>
          <a:lstStyle/>
          <a:p>
            <a:endParaRPr lang="en-US" sz="8000" dirty="0">
              <a:solidFill>
                <a:schemeClr val="tx1"/>
              </a:solidFill>
            </a:endParaRPr>
          </a:p>
          <a:p>
            <a:pPr>
              <a:buFont typeface="Wingdings" panose="05000000000000000000" pitchFamily="2" charset="2"/>
              <a:buChar char="q"/>
            </a:pPr>
            <a:r>
              <a:rPr lang="en-US" sz="8000" dirty="0">
                <a:solidFill>
                  <a:schemeClr val="tx1"/>
                </a:solidFill>
              </a:rPr>
              <a:t>PROBLEM STATEMENT:-</a:t>
            </a:r>
            <a:endParaRPr lang="en-IN" sz="8000" dirty="0">
              <a:solidFill>
                <a:schemeClr val="tx1"/>
              </a:solidFill>
            </a:endParaRPr>
          </a:p>
          <a:p>
            <a:pPr marL="0" indent="0">
              <a:lnSpc>
                <a:spcPct val="107000"/>
              </a:lnSpc>
              <a:spcAft>
                <a:spcPts val="800"/>
              </a:spcAft>
              <a:buNone/>
            </a:pPr>
            <a:r>
              <a:rPr lang="en-IN" sz="4800" b="1" u="sng" dirty="0">
                <a:solidFill>
                  <a:srgbClr val="0000FF"/>
                </a:solidFill>
                <a:effectLst/>
                <a:latin typeface="Arial" panose="020B0604020202020204" pitchFamily="34" charset="0"/>
                <a:ea typeface="Calibri" panose="020F0502020204030204" pitchFamily="34" charset="0"/>
                <a:cs typeface="Times New Roman" panose="02020603050405020304" pitchFamily="18" charset="0"/>
                <a:hlinkClick r:id="rId2"/>
              </a:rPr>
              <a:t>E-retail factors for customer activation and retention: A case study from Indian e-commerce customers</a:t>
            </a:r>
            <a:r>
              <a:rPr lang="en-IN" sz="4800" b="1" dirty="0">
                <a:effectLst/>
                <a:latin typeface="Calibri" panose="020F0502020204030204" pitchFamily="34" charset="0"/>
                <a:ea typeface="Calibri" panose="020F0502020204030204" pitchFamily="34" charset="0"/>
                <a:cs typeface="Times New Roman" panose="02020603050405020304" pitchFamily="18" charset="0"/>
              </a:rPr>
              <a:t> </a:t>
            </a:r>
            <a:endParaRPr lang="en-IN" sz="4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4800" dirty="0">
                <a:solidFill>
                  <a:srgbClr val="111111"/>
                </a:solidFill>
                <a:effectLst/>
                <a:latin typeface="Arial" panose="020B0604020202020204" pitchFamily="34" charset="0"/>
                <a:ea typeface="Calibri" panose="020F0502020204030204" pitchFamily="34" charset="0"/>
                <a:cs typeface="Times New Roman" panose="02020603050405020304" pitchFamily="18" charset="0"/>
              </a:rPr>
              <a:t>Customer satisfaction has emerged as one of the most important factors that guarantee the success of online store; it has been posited as a key stimulant of purchase, repurchase intentions and customer loyalty. A comprehensive review of the literature, theories and models have been carried out to propose the models for customer activation and customer retention. Five major factors that contributed to the success of an e-commerce store have been </a:t>
            </a:r>
            <a:r>
              <a:rPr lang="en-IN" sz="4800" dirty="0" err="1">
                <a:solidFill>
                  <a:srgbClr val="111111"/>
                </a:solidFill>
                <a:effectLst/>
                <a:latin typeface="Arial" panose="020B0604020202020204" pitchFamily="34" charset="0"/>
                <a:ea typeface="Calibri" panose="020F0502020204030204" pitchFamily="34" charset="0"/>
                <a:cs typeface="Times New Roman" panose="02020603050405020304" pitchFamily="18" charset="0"/>
              </a:rPr>
              <a:t>identifiedas</a:t>
            </a:r>
            <a:r>
              <a:rPr lang="en-IN" sz="4800" dirty="0">
                <a:solidFill>
                  <a:srgbClr val="111111"/>
                </a:solidFill>
                <a:effectLst/>
                <a:latin typeface="Arial" panose="020B0604020202020204" pitchFamily="34" charset="0"/>
                <a:ea typeface="Calibri" panose="020F0502020204030204" pitchFamily="34" charset="0"/>
                <a:cs typeface="Times New Roman" panose="02020603050405020304" pitchFamily="18" charset="0"/>
              </a:rPr>
              <a:t>: service quality, system quality, information quality, trust and net benefit. The research furthermore investigated the factors that influence the online customers repeat purchase intention. The combination of both utilitarian value and hedonistic values are needed to affect the repeat purchase intention (loyalty) positively. The data is collected from the Indian online shoppers. Results indicate the e-retail success factors, which are very much critical for customer satisfaction</a:t>
            </a:r>
            <a:r>
              <a:rPr lang="en-IN" sz="6400" dirty="0">
                <a:solidFill>
                  <a:srgbClr val="111111"/>
                </a:solidFill>
                <a:effectLst/>
                <a:latin typeface="Arial" panose="020B0604020202020204" pitchFamily="34" charset="0"/>
                <a:ea typeface="Calibri" panose="020F0502020204030204" pitchFamily="34" charset="0"/>
                <a:cs typeface="Times New Roman" panose="02020603050405020304" pitchFamily="18" charset="0"/>
              </a:rPr>
              <a:t>.</a:t>
            </a:r>
          </a:p>
          <a:p>
            <a:pPr>
              <a:lnSpc>
                <a:spcPct val="107000"/>
              </a:lnSpc>
              <a:spcAft>
                <a:spcPts val="800"/>
              </a:spcAft>
              <a:buFont typeface="Wingdings" panose="05000000000000000000" pitchFamily="2" charset="2"/>
              <a:buChar char="q"/>
            </a:pPr>
            <a:r>
              <a:rPr lang="en-IN" sz="6400" dirty="0">
                <a:solidFill>
                  <a:srgbClr val="111111"/>
                </a:solidFill>
                <a:latin typeface="Arial" panose="020B0604020202020204" pitchFamily="34" charset="0"/>
                <a:ea typeface="Calibri" panose="020F0502020204030204" pitchFamily="34" charset="0"/>
                <a:cs typeface="Times New Roman" panose="02020603050405020304" pitchFamily="18" charset="0"/>
              </a:rPr>
              <a:t>Understanding:-</a:t>
            </a:r>
          </a:p>
          <a:p>
            <a:pPr marL="0" indent="0">
              <a:lnSpc>
                <a:spcPct val="107000"/>
              </a:lnSpc>
              <a:spcAft>
                <a:spcPts val="800"/>
              </a:spcAft>
              <a:buNone/>
            </a:pPr>
            <a:r>
              <a:rPr lang="en-IN" sz="6400" b="1" dirty="0">
                <a:solidFill>
                  <a:srgbClr val="1F3864"/>
                </a:solidFill>
                <a:effectLst/>
                <a:latin typeface="Calibri" panose="020F0502020204030204" pitchFamily="34" charset="0"/>
                <a:ea typeface="Calibri" panose="020F0502020204030204" pitchFamily="34" charset="0"/>
                <a:cs typeface="Times New Roman" panose="02020603050405020304" pitchFamily="18" charset="0"/>
              </a:rPr>
              <a:t>Data Scientists have to apply their analytical skills to give findings and conclusions in detailed data analysis written in </a:t>
            </a:r>
            <a:r>
              <a:rPr lang="en-IN" sz="6400" b="1" dirty="0" err="1">
                <a:solidFill>
                  <a:srgbClr val="1F3864"/>
                </a:solidFill>
                <a:effectLst/>
                <a:latin typeface="Calibri" panose="020F0502020204030204" pitchFamily="34" charset="0"/>
                <a:ea typeface="Calibri" panose="020F0502020204030204" pitchFamily="34" charset="0"/>
                <a:cs typeface="Times New Roman" panose="02020603050405020304" pitchFamily="18" charset="0"/>
              </a:rPr>
              <a:t>jupyter</a:t>
            </a:r>
            <a:r>
              <a:rPr lang="en-IN" sz="6400" b="1" dirty="0">
                <a:solidFill>
                  <a:srgbClr val="1F3864"/>
                </a:solidFill>
                <a:effectLst/>
                <a:latin typeface="Calibri" panose="020F0502020204030204" pitchFamily="34" charset="0"/>
                <a:ea typeface="Calibri" panose="020F0502020204030204" pitchFamily="34" charset="0"/>
                <a:cs typeface="Times New Roman" panose="02020603050405020304" pitchFamily="18" charset="0"/>
              </a:rPr>
              <a:t> notebook . Only data analysis is required. </a:t>
            </a:r>
            <a:endParaRPr lang="en-IN" sz="6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000" dirty="0">
              <a:solidFill>
                <a:schemeClr val="tx1"/>
              </a:solidFill>
            </a:endParaRPr>
          </a:p>
        </p:txBody>
      </p:sp>
    </p:spTree>
    <p:extLst>
      <p:ext uri="{BB962C8B-B14F-4D97-AF65-F5344CB8AC3E}">
        <p14:creationId xmlns:p14="http://schemas.microsoft.com/office/powerpoint/2010/main" val="25686299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B66C9-973C-46D5-BD89-B093C955598D}"/>
              </a:ext>
            </a:extLst>
          </p:cNvPr>
          <p:cNvSpPr>
            <a:spLocks noGrp="1"/>
          </p:cNvSpPr>
          <p:nvPr>
            <p:ph type="title"/>
          </p:nvPr>
        </p:nvSpPr>
        <p:spPr/>
        <p:txBody>
          <a:bodyPr>
            <a:normAutofit/>
          </a:bodyPr>
          <a:lstStyle/>
          <a:p>
            <a:r>
              <a:rPr lang="en-US" sz="4800" dirty="0">
                <a:solidFill>
                  <a:srgbClr val="92D050"/>
                </a:solidFill>
              </a:rPr>
              <a:t>EDA STEPS</a:t>
            </a:r>
            <a:endParaRPr lang="en-IN" sz="4800" dirty="0">
              <a:solidFill>
                <a:srgbClr val="92D050"/>
              </a:solidFill>
            </a:endParaRPr>
          </a:p>
        </p:txBody>
      </p:sp>
      <p:sp>
        <p:nvSpPr>
          <p:cNvPr id="3" name="Subtitle 2">
            <a:extLst>
              <a:ext uri="{FF2B5EF4-FFF2-40B4-BE49-F238E27FC236}">
                <a16:creationId xmlns:a16="http://schemas.microsoft.com/office/drawing/2014/main" id="{D717D3A8-5201-4370-B24B-2FEC49EB216E}"/>
              </a:ext>
            </a:extLst>
          </p:cNvPr>
          <p:cNvSpPr>
            <a:spLocks noGrp="1"/>
          </p:cNvSpPr>
          <p:nvPr>
            <p:ph idx="1"/>
          </p:nvPr>
        </p:nvSpPr>
        <p:spPr/>
        <p:txBody>
          <a:bodyPr>
            <a:normAutofit/>
          </a:bodyPr>
          <a:lstStyle/>
          <a:p>
            <a:pPr marL="45720" indent="0">
              <a:buNone/>
            </a:pPr>
            <a:r>
              <a:rPr lang="en-US" dirty="0">
                <a:solidFill>
                  <a:srgbClr val="0070C0"/>
                </a:solidFill>
              </a:rPr>
              <a:t>1.Import  All the important Libraries</a:t>
            </a:r>
          </a:p>
          <a:p>
            <a:pPr marL="45720" indent="0">
              <a:buNone/>
            </a:pPr>
            <a:r>
              <a:rPr lang="en-US" dirty="0">
                <a:solidFill>
                  <a:srgbClr val="0070C0"/>
                </a:solidFill>
              </a:rPr>
              <a:t>2.Load the data set which is to be used for analysis</a:t>
            </a:r>
          </a:p>
          <a:p>
            <a:pPr marL="45720" indent="0">
              <a:buNone/>
            </a:pPr>
            <a:r>
              <a:rPr lang="en-US" dirty="0">
                <a:solidFill>
                  <a:srgbClr val="0070C0"/>
                </a:solidFill>
              </a:rPr>
              <a:t>3.Check for the null values in the dataset</a:t>
            </a:r>
          </a:p>
          <a:p>
            <a:pPr lvl="1" algn="just">
              <a:buFont typeface="Wingdings" panose="05000000000000000000" pitchFamily="2" charset="2"/>
              <a:buChar char="Ø"/>
            </a:pPr>
            <a:r>
              <a:rPr lang="en-US" dirty="0">
                <a:solidFill>
                  <a:srgbClr val="FF0000"/>
                </a:solidFill>
              </a:rPr>
              <a:t>If there are null values fill them using </a:t>
            </a:r>
            <a:r>
              <a:rPr lang="en-US" dirty="0" err="1">
                <a:solidFill>
                  <a:srgbClr val="FF0000"/>
                </a:solidFill>
              </a:rPr>
              <a:t>fillna</a:t>
            </a:r>
            <a:r>
              <a:rPr lang="en-US" dirty="0">
                <a:solidFill>
                  <a:srgbClr val="FF0000"/>
                </a:solidFill>
              </a:rPr>
              <a:t> method</a:t>
            </a:r>
          </a:p>
          <a:p>
            <a:pPr marL="45720" indent="0" algn="just">
              <a:buNone/>
            </a:pPr>
            <a:r>
              <a:rPr lang="en-US" dirty="0">
                <a:solidFill>
                  <a:srgbClr val="0070C0"/>
                </a:solidFill>
              </a:rPr>
              <a:t>4. Check data description</a:t>
            </a:r>
          </a:p>
          <a:p>
            <a:pPr lvl="1" algn="just">
              <a:buFont typeface="Wingdings" panose="05000000000000000000" pitchFamily="2" charset="2"/>
              <a:buChar char="q"/>
            </a:pPr>
            <a:r>
              <a:rPr lang="en-IN" dirty="0">
                <a:solidFill>
                  <a:srgbClr val="FF0000"/>
                </a:solidFill>
              </a:rPr>
              <a:t> data description show full description of every column like:- std,mean,median,25% of the column and some other important information about every columns</a:t>
            </a:r>
            <a:endParaRPr lang="en-IN" dirty="0">
              <a:solidFill>
                <a:srgbClr val="0070C0"/>
              </a:solidFill>
            </a:endParaRPr>
          </a:p>
          <a:p>
            <a:pPr marL="457200" lvl="1" indent="0" algn="just">
              <a:buNone/>
            </a:pPr>
            <a:endParaRPr lang="en-IN" dirty="0">
              <a:solidFill>
                <a:srgbClr val="FF0000"/>
              </a:solidFill>
            </a:endParaRPr>
          </a:p>
        </p:txBody>
      </p:sp>
    </p:spTree>
    <p:extLst>
      <p:ext uri="{BB962C8B-B14F-4D97-AF65-F5344CB8AC3E}">
        <p14:creationId xmlns:p14="http://schemas.microsoft.com/office/powerpoint/2010/main" val="10672240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F49B8-0F70-410F-A987-48BD9460EB63}"/>
              </a:ext>
            </a:extLst>
          </p:cNvPr>
          <p:cNvSpPr>
            <a:spLocks noGrp="1"/>
          </p:cNvSpPr>
          <p:nvPr>
            <p:ph type="title"/>
          </p:nvPr>
        </p:nvSpPr>
        <p:spPr/>
        <p:txBody>
          <a:bodyPr/>
          <a:lstStyle/>
          <a:p>
            <a:r>
              <a:rPr lang="en-US" dirty="0">
                <a:solidFill>
                  <a:srgbClr val="0070C0"/>
                </a:solidFill>
              </a:rPr>
              <a:t>VISUALIZATION STEPS</a:t>
            </a:r>
            <a:endParaRPr lang="en-IN" dirty="0">
              <a:solidFill>
                <a:srgbClr val="0070C0"/>
              </a:solidFill>
            </a:endParaRPr>
          </a:p>
        </p:txBody>
      </p:sp>
      <p:sp>
        <p:nvSpPr>
          <p:cNvPr id="3" name="Content Placeholder 2">
            <a:extLst>
              <a:ext uri="{FF2B5EF4-FFF2-40B4-BE49-F238E27FC236}">
                <a16:creationId xmlns:a16="http://schemas.microsoft.com/office/drawing/2014/main" id="{D00F53F1-3A47-4AFF-8A27-72A820496704}"/>
              </a:ext>
            </a:extLst>
          </p:cNvPr>
          <p:cNvSpPr>
            <a:spLocks noGrp="1"/>
          </p:cNvSpPr>
          <p:nvPr>
            <p:ph idx="1"/>
          </p:nvPr>
        </p:nvSpPr>
        <p:spPr>
          <a:xfrm>
            <a:off x="1451579" y="2015732"/>
            <a:ext cx="9603275" cy="4095508"/>
          </a:xfrm>
        </p:spPr>
        <p:txBody>
          <a:bodyPr/>
          <a:lstStyle/>
          <a:p>
            <a:pPr>
              <a:buFont typeface="Wingdings" panose="05000000000000000000" pitchFamily="2" charset="2"/>
              <a:buChar char="v"/>
            </a:pPr>
            <a:r>
              <a:rPr lang="en-US" dirty="0">
                <a:solidFill>
                  <a:srgbClr val="FF0000"/>
                </a:solidFill>
              </a:rPr>
              <a:t> Check for correlation in the columns using heatmap or other techniques</a:t>
            </a:r>
          </a:p>
          <a:p>
            <a:pPr lvl="1" algn="just">
              <a:buFont typeface="Wingdings" panose="05000000000000000000" pitchFamily="2" charset="2"/>
              <a:buChar char="q"/>
            </a:pPr>
            <a:r>
              <a:rPr lang="en-US" dirty="0">
                <a:solidFill>
                  <a:srgbClr val="7030A0"/>
                </a:solidFill>
              </a:rPr>
              <a:t>Using correlation we can check that if any columns having high correlation with each other</a:t>
            </a:r>
            <a:r>
              <a:rPr lang="en-IN" dirty="0">
                <a:solidFill>
                  <a:srgbClr val="7030A0"/>
                </a:solidFill>
              </a:rPr>
              <a:t> we can remove one of them</a:t>
            </a:r>
            <a:endParaRPr lang="en-US" dirty="0">
              <a:solidFill>
                <a:srgbClr val="7030A0"/>
              </a:solidFill>
            </a:endParaRPr>
          </a:p>
          <a:p>
            <a:pPr>
              <a:buFont typeface="Wingdings" panose="05000000000000000000" pitchFamily="2" charset="2"/>
              <a:buChar char="v"/>
            </a:pPr>
            <a:r>
              <a:rPr lang="en-IN" dirty="0">
                <a:solidFill>
                  <a:srgbClr val="7030A0"/>
                </a:solidFill>
              </a:rPr>
              <a:t> </a:t>
            </a:r>
            <a:r>
              <a:rPr lang="en-IN" dirty="0">
                <a:solidFill>
                  <a:srgbClr val="FF0000"/>
                </a:solidFill>
              </a:rPr>
              <a:t>After checking correlation we plot the graph for data distribution among all the columns</a:t>
            </a:r>
          </a:p>
          <a:p>
            <a:pPr>
              <a:buFont typeface="Wingdings" panose="05000000000000000000" pitchFamily="2" charset="2"/>
              <a:buChar char="v"/>
            </a:pPr>
            <a:r>
              <a:rPr lang="en-IN" dirty="0">
                <a:solidFill>
                  <a:srgbClr val="FF0000"/>
                </a:solidFill>
              </a:rPr>
              <a:t> With the help of data distribution graph we can that data is distributed well or not , if not distributed well we can check skewness using </a:t>
            </a:r>
            <a:r>
              <a:rPr lang="en-IN" dirty="0" err="1"/>
              <a:t>data.skew</a:t>
            </a:r>
            <a:r>
              <a:rPr lang="en-IN" dirty="0"/>
              <a:t>() </a:t>
            </a:r>
            <a:r>
              <a:rPr lang="en-IN" dirty="0">
                <a:solidFill>
                  <a:srgbClr val="FF0000"/>
                </a:solidFill>
              </a:rPr>
              <a:t>method</a:t>
            </a:r>
          </a:p>
          <a:p>
            <a:pPr>
              <a:buFont typeface="Wingdings" panose="05000000000000000000" pitchFamily="2" charset="2"/>
              <a:buChar char="v"/>
            </a:pPr>
            <a:r>
              <a:rPr lang="en-IN" dirty="0">
                <a:solidFill>
                  <a:srgbClr val="FF0000"/>
                </a:solidFill>
              </a:rPr>
              <a:t>If the value of any column is in between +0.5 and -0.5 that means data is distributed well otherwise there is skewness in the data</a:t>
            </a:r>
          </a:p>
          <a:p>
            <a:pPr>
              <a:buFont typeface="Wingdings" panose="05000000000000000000" pitchFamily="2" charset="2"/>
              <a:buChar char="v"/>
            </a:pPr>
            <a:r>
              <a:rPr lang="en-IN" dirty="0">
                <a:solidFill>
                  <a:srgbClr val="FF0000"/>
                </a:solidFill>
              </a:rPr>
              <a:t> Remove data skewness using </a:t>
            </a:r>
            <a:r>
              <a:rPr lang="en-IN" dirty="0" err="1"/>
              <a:t>power_transform</a:t>
            </a:r>
            <a:r>
              <a:rPr lang="en-IN" dirty="0"/>
              <a:t> </a:t>
            </a:r>
            <a:r>
              <a:rPr lang="en-IN" dirty="0">
                <a:solidFill>
                  <a:srgbClr val="FF0000"/>
                </a:solidFill>
              </a:rPr>
              <a:t>method</a:t>
            </a:r>
            <a:endParaRPr lang="en-IN" dirty="0"/>
          </a:p>
          <a:p>
            <a:pPr>
              <a:buFont typeface="Wingdings" panose="05000000000000000000" pitchFamily="2" charset="2"/>
              <a:buChar char="v"/>
            </a:pPr>
            <a:endParaRPr lang="en-IN" dirty="0"/>
          </a:p>
        </p:txBody>
      </p:sp>
    </p:spTree>
    <p:extLst>
      <p:ext uri="{BB962C8B-B14F-4D97-AF65-F5344CB8AC3E}">
        <p14:creationId xmlns:p14="http://schemas.microsoft.com/office/powerpoint/2010/main" val="22220561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EDEBF-6BD5-4945-B994-4724BD5CA19C}"/>
              </a:ext>
            </a:extLst>
          </p:cNvPr>
          <p:cNvSpPr>
            <a:spLocks noGrp="1"/>
          </p:cNvSpPr>
          <p:nvPr>
            <p:ph type="title"/>
          </p:nvPr>
        </p:nvSpPr>
        <p:spPr/>
        <p:txBody>
          <a:bodyPr/>
          <a:lstStyle/>
          <a:p>
            <a:r>
              <a:rPr lang="en-US" dirty="0">
                <a:solidFill>
                  <a:schemeClr val="accent3">
                    <a:lumMod val="75000"/>
                  </a:schemeClr>
                </a:solidFill>
              </a:rPr>
              <a:t>VISUALIZATION method</a:t>
            </a:r>
            <a:endParaRPr lang="en-IN" dirty="0">
              <a:solidFill>
                <a:schemeClr val="accent3">
                  <a:lumMod val="75000"/>
                </a:schemeClr>
              </a:solidFill>
            </a:endParaRPr>
          </a:p>
        </p:txBody>
      </p:sp>
      <p:sp>
        <p:nvSpPr>
          <p:cNvPr id="3" name="Content Placeholder 2">
            <a:extLst>
              <a:ext uri="{FF2B5EF4-FFF2-40B4-BE49-F238E27FC236}">
                <a16:creationId xmlns:a16="http://schemas.microsoft.com/office/drawing/2014/main" id="{241BD319-7500-438C-B5EB-AC98546B16D0}"/>
              </a:ext>
            </a:extLst>
          </p:cNvPr>
          <p:cNvSpPr>
            <a:spLocks noGrp="1"/>
          </p:cNvSpPr>
          <p:nvPr>
            <p:ph idx="1"/>
          </p:nvPr>
        </p:nvSpPr>
        <p:spPr/>
        <p:txBody>
          <a:bodyPr/>
          <a:lstStyle/>
          <a:p>
            <a:pPr>
              <a:buFont typeface="Wingdings" panose="05000000000000000000" pitchFamily="2" charset="2"/>
              <a:buChar char="ü"/>
            </a:pPr>
            <a:r>
              <a:rPr lang="en-US" dirty="0"/>
              <a:t> </a:t>
            </a:r>
            <a:r>
              <a:rPr lang="en-US" dirty="0">
                <a:solidFill>
                  <a:srgbClr val="FF0000"/>
                </a:solidFill>
              </a:rPr>
              <a:t>After handling skewness check for outliers</a:t>
            </a:r>
            <a:endParaRPr lang="en-IN" dirty="0">
              <a:solidFill>
                <a:srgbClr val="FF0000"/>
              </a:solidFill>
            </a:endParaRPr>
          </a:p>
          <a:p>
            <a:pPr>
              <a:buFont typeface="Wingdings" panose="05000000000000000000" pitchFamily="2" charset="2"/>
              <a:buChar char="ü"/>
            </a:pPr>
            <a:r>
              <a:rPr lang="en-IN" dirty="0">
                <a:solidFill>
                  <a:srgbClr val="FF0000"/>
                </a:solidFill>
              </a:rPr>
              <a:t>After checking for outlier scaled the data using </a:t>
            </a:r>
            <a:r>
              <a:rPr lang="en-IN" dirty="0" err="1">
                <a:solidFill>
                  <a:srgbClr val="FF0000"/>
                </a:solidFill>
              </a:rPr>
              <a:t>StandardScaler</a:t>
            </a:r>
            <a:endParaRPr lang="en-IN" dirty="0">
              <a:solidFill>
                <a:srgbClr val="FF0000"/>
              </a:solidFill>
            </a:endParaRPr>
          </a:p>
          <a:p>
            <a:pPr>
              <a:buFont typeface="Wingdings" panose="05000000000000000000" pitchFamily="2" charset="2"/>
              <a:buChar char="ü"/>
            </a:pPr>
            <a:r>
              <a:rPr lang="en-IN" dirty="0">
                <a:solidFill>
                  <a:srgbClr val="FF0000"/>
                </a:solidFill>
              </a:rPr>
              <a:t> Now check for </a:t>
            </a:r>
            <a:r>
              <a:rPr lang="en-IN" dirty="0" err="1"/>
              <a:t>vif</a:t>
            </a:r>
            <a:r>
              <a:rPr lang="en-IN" dirty="0"/>
              <a:t> score</a:t>
            </a:r>
            <a:r>
              <a:rPr lang="en-IN" dirty="0">
                <a:solidFill>
                  <a:srgbClr val="FF0000"/>
                </a:solidFill>
              </a:rPr>
              <a:t> for every column, which column having </a:t>
            </a:r>
            <a:r>
              <a:rPr lang="en-IN" dirty="0" err="1">
                <a:solidFill>
                  <a:srgbClr val="FF0000"/>
                </a:solidFill>
              </a:rPr>
              <a:t>vif</a:t>
            </a:r>
            <a:r>
              <a:rPr lang="en-IN" dirty="0">
                <a:solidFill>
                  <a:srgbClr val="FF0000"/>
                </a:solidFill>
              </a:rPr>
              <a:t> score more than 5 remove </a:t>
            </a:r>
            <a:r>
              <a:rPr lang="en-IN">
                <a:solidFill>
                  <a:srgbClr val="FF0000"/>
                </a:solidFill>
              </a:rPr>
              <a:t>that column</a:t>
            </a:r>
            <a:endParaRPr lang="en-US" dirty="0">
              <a:solidFill>
                <a:srgbClr val="FF0000"/>
              </a:solidFill>
            </a:endParaRPr>
          </a:p>
        </p:txBody>
      </p:sp>
    </p:spTree>
    <p:extLst>
      <p:ext uri="{BB962C8B-B14F-4D97-AF65-F5344CB8AC3E}">
        <p14:creationId xmlns:p14="http://schemas.microsoft.com/office/powerpoint/2010/main" val="3675352025"/>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71</TotalTime>
  <Words>439</Words>
  <Application>Microsoft Office PowerPoint</Application>
  <PresentationFormat>Widescreen</PresentationFormat>
  <Paragraphs>25</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Gill Sans MT</vt:lpstr>
      <vt:lpstr>Wingdings</vt:lpstr>
      <vt:lpstr>Gallery</vt:lpstr>
      <vt:lpstr>Customer retention project</vt:lpstr>
      <vt:lpstr>EDA STEPS</vt:lpstr>
      <vt:lpstr>VISUALIZATION STEPS</vt:lpstr>
      <vt:lpstr>VISUALIZATION method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retention project</dc:title>
  <dc:creator>ankush5587@outlook.com</dc:creator>
  <cp:lastModifiedBy>ankush5587@outlook.com</cp:lastModifiedBy>
  <cp:revision>1</cp:revision>
  <dcterms:created xsi:type="dcterms:W3CDTF">2022-02-13T13:18:37Z</dcterms:created>
  <dcterms:modified xsi:type="dcterms:W3CDTF">2022-02-13T14:30:30Z</dcterms:modified>
</cp:coreProperties>
</file>