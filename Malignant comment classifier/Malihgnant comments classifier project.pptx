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168313-3EB3-4158-9510-203E438EBF05}" type="datetimeFigureOut">
              <a:rPr lang="en-IN" smtClean="0"/>
              <a:t>21-05-2022</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8A1078FF-0E6B-4608-9136-08EF6E2AB14C}"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55387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168313-3EB3-4158-9510-203E438EBF05}"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1078FF-0E6B-4608-9136-08EF6E2AB14C}"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8575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168313-3EB3-4158-9510-203E438EBF05}"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1078FF-0E6B-4608-9136-08EF6E2AB14C}"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6536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168313-3EB3-4158-9510-203E438EBF05}" type="datetimeFigureOut">
              <a:rPr lang="en-IN" smtClean="0"/>
              <a:t>21-05-2022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1078FF-0E6B-4608-9136-08EF6E2AB14C}"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15671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168313-3EB3-4158-9510-203E438EBF05}" type="datetimeFigureOut">
              <a:rPr lang="en-IN" smtClean="0"/>
              <a:t>21-05-2022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A1078FF-0E6B-4608-9136-08EF6E2AB14C}"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8523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168313-3EB3-4158-9510-203E438EBF05}" type="datetimeFigureOut">
              <a:rPr lang="en-IN" smtClean="0"/>
              <a:t>21-05-2022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A1078FF-0E6B-4608-9136-08EF6E2AB14C}"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90083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168313-3EB3-4158-9510-203E438EBF05}" type="datetimeFigureOut">
              <a:rPr lang="en-IN" smtClean="0"/>
              <a:t>21-05-2022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A1078FF-0E6B-4608-9136-08EF6E2AB14C}" type="slidenum">
              <a:rPr lang="en-IN" smtClean="0"/>
              <a:t>‹#›</a:t>
            </a:fld>
            <a:endParaRPr lang="en-IN"/>
          </a:p>
        </p:txBody>
      </p:sp>
    </p:spTree>
    <p:extLst>
      <p:ext uri="{BB962C8B-B14F-4D97-AF65-F5344CB8AC3E}">
        <p14:creationId xmlns:p14="http://schemas.microsoft.com/office/powerpoint/2010/main" val="3446413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168313-3EB3-4158-9510-203E438EBF05}" type="datetimeFigureOut">
              <a:rPr lang="en-IN" smtClean="0"/>
              <a:t>21-05-2022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1078FF-0E6B-4608-9136-08EF6E2AB14C}"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61695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B168313-3EB3-4158-9510-203E438EBF05}" type="datetimeFigureOut">
              <a:rPr lang="en-IN" smtClean="0"/>
              <a:t>21-05-2022</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8A1078FF-0E6B-4608-9136-08EF6E2AB14C}"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0665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168313-3EB3-4158-9510-203E438EBF05}"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1078FF-0E6B-4608-9136-08EF6E2AB14C}"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23957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168313-3EB3-4158-9510-203E438EBF05}"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1078FF-0E6B-4608-9136-08EF6E2AB14C}"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54004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B168313-3EB3-4158-9510-203E438EBF05}" type="datetimeFigureOut">
              <a:rPr lang="en-IN" smtClean="0"/>
              <a:t>21-05-2022</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A1078FF-0E6B-4608-9136-08EF6E2AB14C}"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7034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A13903-A604-FB97-C74D-8B2BE7DF7443}"/>
              </a:ext>
            </a:extLst>
          </p:cNvPr>
          <p:cNvSpPr>
            <a:spLocks noGrp="1"/>
          </p:cNvSpPr>
          <p:nvPr>
            <p:ph type="title"/>
          </p:nvPr>
        </p:nvSpPr>
        <p:spPr/>
        <p:txBody>
          <a:bodyPr>
            <a:normAutofit fontScale="90000"/>
          </a:bodyPr>
          <a:lstStyle/>
          <a:p>
            <a:r>
              <a:rPr lang="en-US" dirty="0"/>
              <a:t>Problem statement</a:t>
            </a:r>
            <a:br>
              <a:rPr lang="en-US" dirty="0"/>
            </a:br>
            <a:br>
              <a:rPr lang="en-US" dirty="0"/>
            </a:br>
            <a:br>
              <a:rPr lang="en-US" dirty="0"/>
            </a:br>
            <a:endParaRPr lang="en-IN" dirty="0"/>
          </a:p>
        </p:txBody>
      </p:sp>
      <p:sp>
        <p:nvSpPr>
          <p:cNvPr id="5" name="Content Placeholder 4">
            <a:extLst>
              <a:ext uri="{FF2B5EF4-FFF2-40B4-BE49-F238E27FC236}">
                <a16:creationId xmlns:a16="http://schemas.microsoft.com/office/drawing/2014/main" id="{4B332377-DEE2-DA46-11D8-6E2EC5C84480}"/>
              </a:ext>
            </a:extLst>
          </p:cNvPr>
          <p:cNvSpPr>
            <a:spLocks noGrp="1"/>
          </p:cNvSpPr>
          <p:nvPr>
            <p:ph idx="1"/>
          </p:nvPr>
        </p:nvSpPr>
        <p:spPr/>
        <p:txBody>
          <a:bodyPr>
            <a:normAutofit fontScale="62500" lnSpcReduction="20000"/>
          </a:bodyPr>
          <a:lstStyle/>
          <a:p>
            <a:pPr>
              <a:lnSpc>
                <a:spcPct val="107000"/>
              </a:lnSpc>
              <a:spcAft>
                <a:spcPts val="800"/>
              </a:spcAft>
            </a:pPr>
            <a:r>
              <a:rPr lang="en-IN" sz="1800" b="1" i="1" u="sng" dirty="0">
                <a:effectLst/>
                <a:latin typeface="Calibri" panose="020F0502020204030204" pitchFamily="34" charset="0"/>
                <a:ea typeface="Calibri" panose="020F0502020204030204" pitchFamily="34" charset="0"/>
                <a:cs typeface="Mangal" panose="02040503050203030202" pitchFamily="18" charset="0"/>
              </a:rPr>
              <a:t>PEOBLEM STATEMENT:-</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effectLst/>
                <a:latin typeface="Calibri" panose="020F0502020204030204" pitchFamily="34" charset="0"/>
                <a:ea typeface="Calibri" panose="020F0502020204030204" pitchFamily="34" charset="0"/>
                <a:cs typeface="Mangal" panose="02040503050203030202" pitchFamily="18" charset="0"/>
              </a:rPr>
              <a:t>The proliferation of social media enables people to express their opinions widely online. However, at the same time, this has resulted in the emergence of conflict and hate, making online environments uninviting for users. Although researchers have found that hate is a problem across multiple platforms, there is a lack of models for online hate detection.</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Mangal" panose="02040503050203030202" pitchFamily="18" charset="0"/>
              </a:rPr>
              <a:t>Online hate, described as abusive language, aggression, cyberbullying, hatefulness and many others has been identified as a major threat on online social media platforms. Social media platforms are the most prominent grounds for such toxic behaviour.   </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Mangal" panose="02040503050203030202" pitchFamily="18" charset="0"/>
              </a:rPr>
              <a:t>There has been a remarkable increase in the cases of cyberbullying and trolls on various social media platforms. Many celebrities and influences are facing backlashes from people and have to come across hateful and offensive comments. This can take a toll on anyone and affect them mentally leading to depression, mental illness, self-hatred and suicidal thoughts.    </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Mangal" panose="02040503050203030202" pitchFamily="18" charset="0"/>
              </a:rPr>
              <a:t>Internet comments are bastions of hatred and vitriol. While online anonymity has provided a new outlet for aggression and hate speech, machine learning can be used to fight it. The problem we sought to solve was the tagging of internet comments that are aggressive towards other users. This means that insults to third parties such as celebrities will be tagged as unoffensive, but “u are an idiot” is clearly offensive.</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Mangal" panose="02040503050203030202" pitchFamily="18" charset="0"/>
              </a:rPr>
              <a:t>Our goal is to build a prototype of online hate and abuse comment classifier which can used to classify hate and offensive comments so that it can be controlled and restricted from spreading hatred and cyberbullying. </a:t>
            </a:r>
          </a:p>
          <a:p>
            <a:endParaRPr lang="en-IN" dirty="0"/>
          </a:p>
        </p:txBody>
      </p:sp>
    </p:spTree>
    <p:extLst>
      <p:ext uri="{BB962C8B-B14F-4D97-AF65-F5344CB8AC3E}">
        <p14:creationId xmlns:p14="http://schemas.microsoft.com/office/powerpoint/2010/main" val="1684787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5890E-F07F-D5FD-053E-CA7D93B55FDA}"/>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2EF57F55-DFEB-9E97-56DA-5D0875CE172A}"/>
              </a:ext>
            </a:extLst>
          </p:cNvPr>
          <p:cNvSpPr>
            <a:spLocks noGrp="1"/>
          </p:cNvSpPr>
          <p:nvPr>
            <p:ph idx="1"/>
          </p:nvPr>
        </p:nvSpPr>
        <p:spPr/>
        <p:txBody>
          <a:bodyPr>
            <a:normAutofit fontScale="25000" lnSpcReduction="20000"/>
          </a:bodyPr>
          <a:lstStyle/>
          <a:p>
            <a:pPr>
              <a:lnSpc>
                <a:spcPct val="107000"/>
              </a:lnSpc>
              <a:spcAft>
                <a:spcPts val="800"/>
              </a:spcAft>
            </a:pPr>
            <a:r>
              <a:rPr lang="en-IN" sz="3100" b="1" u="sng" dirty="0">
                <a:effectLst/>
                <a:latin typeface="Calibri" panose="020F0502020204030204" pitchFamily="34" charset="0"/>
                <a:ea typeface="Calibri" panose="020F0502020204030204" pitchFamily="34" charset="0"/>
                <a:cs typeface="Mangal" panose="02040503050203030202" pitchFamily="18" charset="0"/>
              </a:rPr>
              <a:t>Data Set Description</a:t>
            </a:r>
            <a:endParaRPr lang="en-IN" sz="3100" dirty="0">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3100" dirty="0">
                <a:effectLst/>
                <a:latin typeface="Calibri" panose="020F0502020204030204" pitchFamily="34" charset="0"/>
                <a:ea typeface="Calibri" panose="020F0502020204030204" pitchFamily="34" charset="0"/>
                <a:cs typeface="Mangal" panose="02040503050203030202" pitchFamily="18" charset="0"/>
              </a:rPr>
              <a:t>The data set contains the training set, which has approximately 1,59,000 samples and the test set which contains nearly 1,53,000 samples. All the data samples contain 8 fields which includes ‘Id’, ‘Comments’, ‘Malignant’, ‘Highly malignant’, ‘Rude’, ‘Threat’, ‘Abuse’ and ‘Loathe’. </a:t>
            </a:r>
          </a:p>
          <a:p>
            <a:pPr>
              <a:lnSpc>
                <a:spcPct val="107000"/>
              </a:lnSpc>
              <a:spcAft>
                <a:spcPts val="800"/>
              </a:spcAft>
            </a:pPr>
            <a:r>
              <a:rPr lang="en-IN" sz="3100" dirty="0">
                <a:effectLst/>
                <a:latin typeface="Calibri" panose="020F0502020204030204" pitchFamily="34" charset="0"/>
                <a:ea typeface="Calibri" panose="020F0502020204030204" pitchFamily="34" charset="0"/>
                <a:cs typeface="Mangal" panose="02040503050203030202" pitchFamily="18" charset="0"/>
              </a:rPr>
              <a:t>The label can be either 0 or 1, where 0 denotes a NO while 1 denotes a YES. There are various comments which have multiple labels. The first attribute is a unique ID associated with each comment.  </a:t>
            </a:r>
            <a:r>
              <a:rPr lang="en-IN" sz="3100" b="1" dirty="0">
                <a:effectLst/>
                <a:latin typeface="Calibri" panose="020F0502020204030204" pitchFamily="34" charset="0"/>
                <a:ea typeface="Calibri" panose="020F0502020204030204" pitchFamily="34" charset="0"/>
                <a:cs typeface="Mangal" panose="02040503050203030202" pitchFamily="18" charset="0"/>
              </a:rPr>
              <a:t> </a:t>
            </a:r>
            <a:endParaRPr lang="en-IN" sz="3100" dirty="0">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3100" dirty="0">
                <a:effectLst/>
                <a:latin typeface="Calibri" panose="020F0502020204030204" pitchFamily="34" charset="0"/>
                <a:ea typeface="Calibri" panose="020F0502020204030204" pitchFamily="34" charset="0"/>
                <a:cs typeface="Mangal" panose="02040503050203030202" pitchFamily="18" charset="0"/>
              </a:rPr>
              <a:t>The data set includes:</a:t>
            </a:r>
          </a:p>
          <a:p>
            <a:pPr marL="342900" lvl="0" indent="-342900">
              <a:lnSpc>
                <a:spcPct val="106000"/>
              </a:lnSpc>
              <a:buFont typeface="Calibri" panose="020F0502020204030204" pitchFamily="34" charset="0"/>
              <a:buChar char="-"/>
            </a:pPr>
            <a:r>
              <a:rPr lang="en-IN" sz="3100" b="1" dirty="0">
                <a:effectLst/>
                <a:latin typeface="Calibri" panose="020F0502020204030204" pitchFamily="34" charset="0"/>
                <a:ea typeface="Calibri" panose="020F0502020204030204" pitchFamily="34" charset="0"/>
                <a:cs typeface="Mangal" panose="02040503050203030202" pitchFamily="18" charset="0"/>
              </a:rPr>
              <a:t>Malignant: </a:t>
            </a:r>
            <a:r>
              <a:rPr lang="en-IN" sz="3100" dirty="0">
                <a:effectLst/>
                <a:latin typeface="Calibri" panose="020F0502020204030204" pitchFamily="34" charset="0"/>
                <a:ea typeface="Calibri" panose="020F0502020204030204" pitchFamily="34" charset="0"/>
                <a:cs typeface="Mangal" panose="02040503050203030202" pitchFamily="18" charset="0"/>
              </a:rPr>
              <a:t>It is the Label column, which includes values 0 and 1, denoting if the comment is malignant or not. </a:t>
            </a:r>
          </a:p>
          <a:p>
            <a:pPr marL="342900" lvl="0" indent="-342900">
              <a:lnSpc>
                <a:spcPct val="106000"/>
              </a:lnSpc>
              <a:buFont typeface="Calibri" panose="020F0502020204030204" pitchFamily="34" charset="0"/>
              <a:buChar char="-"/>
            </a:pPr>
            <a:r>
              <a:rPr lang="en-IN" sz="3100" b="1" dirty="0">
                <a:effectLst/>
                <a:latin typeface="Calibri" panose="020F0502020204030204" pitchFamily="34" charset="0"/>
                <a:ea typeface="Calibri" panose="020F0502020204030204" pitchFamily="34" charset="0"/>
                <a:cs typeface="Mangal" panose="02040503050203030202" pitchFamily="18" charset="0"/>
              </a:rPr>
              <a:t>Highly Malignant:</a:t>
            </a:r>
            <a:r>
              <a:rPr lang="en-IN" sz="3100" dirty="0">
                <a:effectLst/>
                <a:latin typeface="Calibri" panose="020F0502020204030204" pitchFamily="34" charset="0"/>
                <a:ea typeface="Calibri" panose="020F0502020204030204" pitchFamily="34" charset="0"/>
                <a:cs typeface="Mangal" panose="02040503050203030202" pitchFamily="18" charset="0"/>
              </a:rPr>
              <a:t> It denotes comments that are highly malignant and hurtful. </a:t>
            </a:r>
          </a:p>
          <a:p>
            <a:pPr marL="342900" lvl="0" indent="-342900">
              <a:lnSpc>
                <a:spcPct val="106000"/>
              </a:lnSpc>
              <a:buFont typeface="Calibri" panose="020F0502020204030204" pitchFamily="34" charset="0"/>
              <a:buChar char="-"/>
            </a:pPr>
            <a:r>
              <a:rPr lang="en-IN" sz="3100" b="1" dirty="0">
                <a:effectLst/>
                <a:latin typeface="Calibri" panose="020F0502020204030204" pitchFamily="34" charset="0"/>
                <a:ea typeface="Calibri" panose="020F0502020204030204" pitchFamily="34" charset="0"/>
                <a:cs typeface="Mangal" panose="02040503050203030202" pitchFamily="18" charset="0"/>
              </a:rPr>
              <a:t>Rude: </a:t>
            </a:r>
            <a:r>
              <a:rPr lang="en-IN" sz="3100" dirty="0">
                <a:effectLst/>
                <a:latin typeface="Calibri" panose="020F0502020204030204" pitchFamily="34" charset="0"/>
                <a:ea typeface="Calibri" panose="020F0502020204030204" pitchFamily="34" charset="0"/>
                <a:cs typeface="Mangal" panose="02040503050203030202" pitchFamily="18" charset="0"/>
              </a:rPr>
              <a:t>It denotes comments that are very rude and offensive.</a:t>
            </a:r>
          </a:p>
          <a:p>
            <a:pPr marL="342900" lvl="0" indent="-342900">
              <a:lnSpc>
                <a:spcPct val="106000"/>
              </a:lnSpc>
              <a:buFont typeface="Calibri" panose="020F0502020204030204" pitchFamily="34" charset="0"/>
              <a:buChar char="-"/>
            </a:pPr>
            <a:r>
              <a:rPr lang="en-IN" sz="3100" b="1" dirty="0">
                <a:effectLst/>
                <a:latin typeface="Calibri" panose="020F0502020204030204" pitchFamily="34" charset="0"/>
                <a:ea typeface="Calibri" panose="020F0502020204030204" pitchFamily="34" charset="0"/>
                <a:cs typeface="Mangal" panose="02040503050203030202" pitchFamily="18" charset="0"/>
              </a:rPr>
              <a:t>Threat:</a:t>
            </a:r>
            <a:r>
              <a:rPr lang="en-IN" sz="3100" dirty="0">
                <a:effectLst/>
                <a:latin typeface="Calibri" panose="020F0502020204030204" pitchFamily="34" charset="0"/>
                <a:ea typeface="Calibri" panose="020F0502020204030204" pitchFamily="34" charset="0"/>
                <a:cs typeface="Mangal" panose="02040503050203030202" pitchFamily="18" charset="0"/>
              </a:rPr>
              <a:t> It contains indication of the comments that are giving any threat to someone. 	</a:t>
            </a:r>
          </a:p>
          <a:p>
            <a:pPr marL="342900" lvl="0" indent="-342900">
              <a:lnSpc>
                <a:spcPct val="106000"/>
              </a:lnSpc>
              <a:buFont typeface="Calibri" panose="020F0502020204030204" pitchFamily="34" charset="0"/>
              <a:buChar char="-"/>
            </a:pPr>
            <a:r>
              <a:rPr lang="en-IN" sz="3100" b="1" dirty="0">
                <a:effectLst/>
                <a:latin typeface="Calibri" panose="020F0502020204030204" pitchFamily="34" charset="0"/>
                <a:ea typeface="Calibri" panose="020F0502020204030204" pitchFamily="34" charset="0"/>
                <a:cs typeface="Mangal" panose="02040503050203030202" pitchFamily="18" charset="0"/>
              </a:rPr>
              <a:t>Abuse:</a:t>
            </a:r>
            <a:r>
              <a:rPr lang="en-IN" sz="3100" dirty="0">
                <a:effectLst/>
                <a:latin typeface="Calibri" panose="020F0502020204030204" pitchFamily="34" charset="0"/>
                <a:ea typeface="Calibri" panose="020F0502020204030204" pitchFamily="34" charset="0"/>
                <a:cs typeface="Mangal" panose="02040503050203030202" pitchFamily="18" charset="0"/>
              </a:rPr>
              <a:t> It is for comments that are abusive in nature. </a:t>
            </a:r>
          </a:p>
          <a:p>
            <a:pPr marL="342900" lvl="0" indent="-342900">
              <a:lnSpc>
                <a:spcPct val="106000"/>
              </a:lnSpc>
              <a:buFont typeface="Calibri" panose="020F0502020204030204" pitchFamily="34" charset="0"/>
              <a:buChar char="-"/>
            </a:pPr>
            <a:r>
              <a:rPr lang="en-IN" sz="3100" b="1" dirty="0">
                <a:effectLst/>
                <a:latin typeface="Calibri" panose="020F0502020204030204" pitchFamily="34" charset="0"/>
                <a:ea typeface="Calibri" panose="020F0502020204030204" pitchFamily="34" charset="0"/>
                <a:cs typeface="Mangal" panose="02040503050203030202" pitchFamily="18" charset="0"/>
              </a:rPr>
              <a:t>Loathe:</a:t>
            </a:r>
            <a:r>
              <a:rPr lang="en-IN" sz="3100" dirty="0">
                <a:effectLst/>
                <a:latin typeface="Calibri" panose="020F0502020204030204" pitchFamily="34" charset="0"/>
                <a:ea typeface="Calibri" panose="020F0502020204030204" pitchFamily="34" charset="0"/>
                <a:cs typeface="Mangal" panose="02040503050203030202" pitchFamily="18" charset="0"/>
              </a:rPr>
              <a:t> It describes the comments which are hateful and loathing in nature.  </a:t>
            </a:r>
          </a:p>
          <a:p>
            <a:pPr marL="342900" lvl="0" indent="-342900">
              <a:lnSpc>
                <a:spcPct val="106000"/>
              </a:lnSpc>
              <a:buFont typeface="Calibri" panose="020F0502020204030204" pitchFamily="34" charset="0"/>
              <a:buChar char="-"/>
            </a:pPr>
            <a:r>
              <a:rPr lang="en-IN" sz="3100" b="1" dirty="0">
                <a:effectLst/>
                <a:latin typeface="Calibri" panose="020F0502020204030204" pitchFamily="34" charset="0"/>
                <a:ea typeface="Calibri" panose="020F0502020204030204" pitchFamily="34" charset="0"/>
                <a:cs typeface="Mangal" panose="02040503050203030202" pitchFamily="18" charset="0"/>
              </a:rPr>
              <a:t>ID: </a:t>
            </a:r>
            <a:r>
              <a:rPr lang="en-IN" sz="3100" dirty="0">
                <a:effectLst/>
                <a:latin typeface="Calibri" panose="020F0502020204030204" pitchFamily="34" charset="0"/>
                <a:ea typeface="Calibri" panose="020F0502020204030204" pitchFamily="34" charset="0"/>
                <a:cs typeface="Mangal" panose="02040503050203030202" pitchFamily="18" charset="0"/>
              </a:rPr>
              <a:t>It includes unique Ids associated with each comment text given. </a:t>
            </a:r>
            <a:r>
              <a:rPr lang="en-IN" sz="3100" b="1" dirty="0">
                <a:effectLst/>
                <a:latin typeface="Calibri" panose="020F0502020204030204" pitchFamily="34" charset="0"/>
                <a:ea typeface="Calibri" panose="020F0502020204030204" pitchFamily="34" charset="0"/>
                <a:cs typeface="Mangal" panose="02040503050203030202" pitchFamily="18" charset="0"/>
              </a:rPr>
              <a:t> </a:t>
            </a:r>
            <a:r>
              <a:rPr lang="en-IN" sz="3100" dirty="0">
                <a:effectLst/>
                <a:latin typeface="Calibri" panose="020F0502020204030204" pitchFamily="34" charset="0"/>
                <a:ea typeface="Calibri" panose="020F0502020204030204" pitchFamily="34" charset="0"/>
                <a:cs typeface="Mangal" panose="02040503050203030202" pitchFamily="18" charset="0"/>
              </a:rPr>
              <a:t> </a:t>
            </a:r>
          </a:p>
          <a:p>
            <a:pPr marL="342900" lvl="0" indent="-342900">
              <a:lnSpc>
                <a:spcPct val="106000"/>
              </a:lnSpc>
              <a:spcAft>
                <a:spcPts val="800"/>
              </a:spcAft>
              <a:buFont typeface="Calibri" panose="020F0502020204030204" pitchFamily="34" charset="0"/>
              <a:buChar char="-"/>
            </a:pPr>
            <a:r>
              <a:rPr lang="en-IN" sz="3100" b="1" dirty="0">
                <a:effectLst/>
                <a:latin typeface="Calibri" panose="020F0502020204030204" pitchFamily="34" charset="0"/>
                <a:ea typeface="Calibri" panose="020F0502020204030204" pitchFamily="34" charset="0"/>
                <a:cs typeface="Mangal" panose="02040503050203030202" pitchFamily="18" charset="0"/>
              </a:rPr>
              <a:t>Comment text: </a:t>
            </a:r>
            <a:r>
              <a:rPr lang="en-IN" sz="3100" dirty="0">
                <a:effectLst/>
                <a:latin typeface="Calibri" panose="020F0502020204030204" pitchFamily="34" charset="0"/>
                <a:ea typeface="Calibri" panose="020F0502020204030204" pitchFamily="34" charset="0"/>
                <a:cs typeface="Mangal" panose="02040503050203030202" pitchFamily="18" charset="0"/>
              </a:rPr>
              <a:t>This column contains the comments extracted from various social media </a:t>
            </a:r>
            <a:r>
              <a:rPr lang="en-IN" sz="1800" dirty="0">
                <a:effectLst/>
                <a:latin typeface="Calibri" panose="020F0502020204030204" pitchFamily="34" charset="0"/>
                <a:ea typeface="Calibri" panose="020F0502020204030204" pitchFamily="34" charset="0"/>
                <a:cs typeface="Mangal" panose="02040503050203030202" pitchFamily="18" charset="0"/>
              </a:rPr>
              <a:t>platforms. </a:t>
            </a:r>
          </a:p>
          <a:p>
            <a:endParaRPr lang="en-IN" dirty="0"/>
          </a:p>
        </p:txBody>
      </p:sp>
    </p:spTree>
    <p:extLst>
      <p:ext uri="{BB962C8B-B14F-4D97-AF65-F5344CB8AC3E}">
        <p14:creationId xmlns:p14="http://schemas.microsoft.com/office/powerpoint/2010/main" val="3186239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BF51C-C741-77DF-CF41-024C0708511E}"/>
              </a:ext>
            </a:extLst>
          </p:cNvPr>
          <p:cNvSpPr>
            <a:spLocks noGrp="1"/>
          </p:cNvSpPr>
          <p:nvPr>
            <p:ph type="title"/>
          </p:nvPr>
        </p:nvSpPr>
        <p:spPr/>
        <p:txBody>
          <a:bodyPr/>
          <a:lstStyle/>
          <a:p>
            <a:r>
              <a:rPr lang="en-US" dirty="0"/>
              <a:t>Model building :- </a:t>
            </a:r>
            <a:r>
              <a:rPr lang="en-US" dirty="0" err="1"/>
              <a:t>eda</a:t>
            </a:r>
            <a:r>
              <a:rPr lang="en-US" dirty="0"/>
              <a:t> steps</a:t>
            </a:r>
            <a:endParaRPr lang="en-IN" dirty="0"/>
          </a:p>
        </p:txBody>
      </p:sp>
      <p:sp>
        <p:nvSpPr>
          <p:cNvPr id="3" name="Content Placeholder 2">
            <a:extLst>
              <a:ext uri="{FF2B5EF4-FFF2-40B4-BE49-F238E27FC236}">
                <a16:creationId xmlns:a16="http://schemas.microsoft.com/office/drawing/2014/main" id="{E2DD7ADB-11A3-1400-898B-5F4A701C1BCB}"/>
              </a:ext>
            </a:extLst>
          </p:cNvPr>
          <p:cNvSpPr>
            <a:spLocks noGrp="1"/>
          </p:cNvSpPr>
          <p:nvPr>
            <p:ph idx="1"/>
          </p:nvPr>
        </p:nvSpPr>
        <p:spPr/>
        <p:txBody>
          <a:bodyPr>
            <a:normAutofit/>
          </a:bodyPr>
          <a:lstStyle/>
          <a:p>
            <a:pPr marL="45720" indent="0">
              <a:buNone/>
            </a:pPr>
            <a:r>
              <a:rPr lang="en-US" dirty="0">
                <a:solidFill>
                  <a:schemeClr val="tx2"/>
                </a:solidFill>
              </a:rPr>
              <a:t>1.Import  All the important Libraries</a:t>
            </a:r>
          </a:p>
          <a:p>
            <a:pPr marL="45720" indent="0">
              <a:buNone/>
            </a:pPr>
            <a:r>
              <a:rPr lang="en-US" dirty="0">
                <a:solidFill>
                  <a:schemeClr val="tx2"/>
                </a:solidFill>
              </a:rPr>
              <a:t>2.Load the data set which is to be used for analysis</a:t>
            </a:r>
          </a:p>
          <a:p>
            <a:pPr marL="45720" indent="0">
              <a:buNone/>
            </a:pPr>
            <a:r>
              <a:rPr lang="en-US" dirty="0">
                <a:solidFill>
                  <a:schemeClr val="tx2"/>
                </a:solidFill>
              </a:rPr>
              <a:t>3.Check for the null values in the dataset</a:t>
            </a:r>
          </a:p>
          <a:p>
            <a:pPr lvl="1" algn="just">
              <a:buFont typeface="Wingdings" panose="05000000000000000000" pitchFamily="2" charset="2"/>
              <a:buChar char="Ø"/>
            </a:pPr>
            <a:r>
              <a:rPr lang="en-US" dirty="0">
                <a:solidFill>
                  <a:schemeClr val="tx2"/>
                </a:solidFill>
              </a:rPr>
              <a:t>If there are null values fill them using </a:t>
            </a:r>
            <a:r>
              <a:rPr lang="en-US" dirty="0" err="1">
                <a:solidFill>
                  <a:schemeClr val="tx2"/>
                </a:solidFill>
              </a:rPr>
              <a:t>fillna</a:t>
            </a:r>
            <a:r>
              <a:rPr lang="en-US" dirty="0">
                <a:solidFill>
                  <a:schemeClr val="tx2"/>
                </a:solidFill>
              </a:rPr>
              <a:t> method</a:t>
            </a:r>
          </a:p>
          <a:p>
            <a:pPr marL="45720" indent="0" algn="just">
              <a:buNone/>
            </a:pPr>
            <a:r>
              <a:rPr lang="en-US" dirty="0">
                <a:solidFill>
                  <a:schemeClr val="tx2"/>
                </a:solidFill>
              </a:rPr>
              <a:t>4. Check data description</a:t>
            </a:r>
          </a:p>
          <a:p>
            <a:pPr lvl="1" algn="just">
              <a:buFont typeface="Wingdings" panose="05000000000000000000" pitchFamily="2" charset="2"/>
              <a:buChar char="q"/>
            </a:pPr>
            <a:r>
              <a:rPr lang="en-IN" dirty="0">
                <a:solidFill>
                  <a:schemeClr val="tx2"/>
                </a:solidFill>
              </a:rPr>
              <a:t> data description show full description of every column like:- std,mean,median,25% of the column and some other important information about every columns</a:t>
            </a:r>
          </a:p>
          <a:p>
            <a:pPr marL="457200" lvl="1" indent="0" algn="just">
              <a:buNone/>
            </a:pPr>
            <a:endParaRPr lang="en-IN" dirty="0">
              <a:solidFill>
                <a:schemeClr val="tx2"/>
              </a:solidFill>
            </a:endParaRPr>
          </a:p>
          <a:p>
            <a:pPr marL="0" indent="0">
              <a:buNone/>
            </a:pPr>
            <a:endParaRPr lang="en-IN" dirty="0"/>
          </a:p>
          <a:p>
            <a:endParaRPr lang="en-IN" dirty="0"/>
          </a:p>
        </p:txBody>
      </p:sp>
    </p:spTree>
    <p:extLst>
      <p:ext uri="{BB962C8B-B14F-4D97-AF65-F5344CB8AC3E}">
        <p14:creationId xmlns:p14="http://schemas.microsoft.com/office/powerpoint/2010/main" val="2469755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FFC6E-6184-5FFB-61DB-55CB35B209FA}"/>
              </a:ext>
            </a:extLst>
          </p:cNvPr>
          <p:cNvSpPr>
            <a:spLocks noGrp="1"/>
          </p:cNvSpPr>
          <p:nvPr>
            <p:ph type="title"/>
          </p:nvPr>
        </p:nvSpPr>
        <p:spPr/>
        <p:txBody>
          <a:bodyPr/>
          <a:lstStyle/>
          <a:p>
            <a:r>
              <a:rPr lang="en-US" dirty="0"/>
              <a:t>Visualization steps</a:t>
            </a:r>
            <a:endParaRPr lang="en-IN" dirty="0"/>
          </a:p>
        </p:txBody>
      </p:sp>
      <p:sp>
        <p:nvSpPr>
          <p:cNvPr id="3" name="Content Placeholder 2">
            <a:extLst>
              <a:ext uri="{FF2B5EF4-FFF2-40B4-BE49-F238E27FC236}">
                <a16:creationId xmlns:a16="http://schemas.microsoft.com/office/drawing/2014/main" id="{BD8EEB82-992E-BF00-B3C5-001EE14F7299}"/>
              </a:ext>
            </a:extLst>
          </p:cNvPr>
          <p:cNvSpPr>
            <a:spLocks noGrp="1"/>
          </p:cNvSpPr>
          <p:nvPr>
            <p:ph idx="1"/>
          </p:nvPr>
        </p:nvSpPr>
        <p:spPr/>
        <p:txBody>
          <a:bodyPr/>
          <a:lstStyle/>
          <a:p>
            <a:pPr>
              <a:buFont typeface="Wingdings" panose="05000000000000000000" pitchFamily="2" charset="2"/>
              <a:buChar char="v"/>
            </a:pPr>
            <a:r>
              <a:rPr lang="en-US" dirty="0">
                <a:solidFill>
                  <a:schemeClr val="accent1"/>
                </a:solidFill>
              </a:rPr>
              <a:t>Check for correlation in the columns using heatmap or other techniques</a:t>
            </a:r>
          </a:p>
          <a:p>
            <a:pPr lvl="1" algn="just">
              <a:buFont typeface="Wingdings" panose="05000000000000000000" pitchFamily="2" charset="2"/>
              <a:buChar char="q"/>
            </a:pPr>
            <a:r>
              <a:rPr lang="en-US" dirty="0">
                <a:solidFill>
                  <a:schemeClr val="accent1"/>
                </a:solidFill>
              </a:rPr>
              <a:t>Using correlation we can check that if any columns having high correlation with each other</a:t>
            </a:r>
            <a:r>
              <a:rPr lang="en-IN" dirty="0">
                <a:solidFill>
                  <a:schemeClr val="accent1"/>
                </a:solidFill>
              </a:rPr>
              <a:t> we can remove one of them</a:t>
            </a:r>
            <a:endParaRPr lang="en-US" dirty="0">
              <a:solidFill>
                <a:schemeClr val="accent1"/>
              </a:solidFill>
            </a:endParaRPr>
          </a:p>
          <a:p>
            <a:pPr>
              <a:buFont typeface="Wingdings" panose="05000000000000000000" pitchFamily="2" charset="2"/>
              <a:buChar char="v"/>
            </a:pPr>
            <a:r>
              <a:rPr lang="en-IN" dirty="0"/>
              <a:t>Plot the value count graph for all the columns which shows that what type of comment is </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647795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9265B-ED99-0876-0021-1E37D7B0C255}"/>
              </a:ext>
            </a:extLst>
          </p:cNvPr>
          <p:cNvSpPr>
            <a:spLocks noGrp="1"/>
          </p:cNvSpPr>
          <p:nvPr>
            <p:ph type="title"/>
          </p:nvPr>
        </p:nvSpPr>
        <p:spPr/>
        <p:txBody>
          <a:bodyPr/>
          <a:lstStyle/>
          <a:p>
            <a:r>
              <a:rPr lang="en-US" dirty="0"/>
              <a:t>Data cleaning</a:t>
            </a:r>
            <a:endParaRPr lang="en-IN" dirty="0"/>
          </a:p>
        </p:txBody>
      </p:sp>
      <p:sp>
        <p:nvSpPr>
          <p:cNvPr id="3" name="Content Placeholder 2">
            <a:extLst>
              <a:ext uri="{FF2B5EF4-FFF2-40B4-BE49-F238E27FC236}">
                <a16:creationId xmlns:a16="http://schemas.microsoft.com/office/drawing/2014/main" id="{83D0B043-3D3D-1995-4031-3070D5F112D6}"/>
              </a:ext>
            </a:extLst>
          </p:cNvPr>
          <p:cNvSpPr>
            <a:spLocks noGrp="1"/>
          </p:cNvSpPr>
          <p:nvPr>
            <p:ph idx="1"/>
          </p:nvPr>
        </p:nvSpPr>
        <p:spPr/>
        <p:txBody>
          <a:bodyPr/>
          <a:lstStyle/>
          <a:p>
            <a:r>
              <a:rPr lang="en-US" dirty="0"/>
              <a:t>Import some other required libraries like </a:t>
            </a:r>
            <a:r>
              <a:rPr lang="en-US" dirty="0" err="1"/>
              <a:t>wordlemmatizer</a:t>
            </a:r>
            <a:r>
              <a:rPr lang="en-US" dirty="0"/>
              <a:t>, import </a:t>
            </a:r>
            <a:r>
              <a:rPr lang="en-US" dirty="0" err="1"/>
              <a:t>stopwords</a:t>
            </a:r>
            <a:r>
              <a:rPr lang="en-US" dirty="0"/>
              <a:t> and string</a:t>
            </a:r>
          </a:p>
          <a:p>
            <a:r>
              <a:rPr lang="en-US" dirty="0"/>
              <a:t>After this replace the hyperlinks , special character , and some other things with their </a:t>
            </a:r>
            <a:r>
              <a:rPr lang="en-US" dirty="0" err="1"/>
              <a:t>respectives</a:t>
            </a:r>
            <a:r>
              <a:rPr lang="en-US" dirty="0"/>
              <a:t> and change all the text to lower case</a:t>
            </a:r>
          </a:p>
          <a:p>
            <a:r>
              <a:rPr lang="en-US" dirty="0"/>
              <a:t>After all this import the library </a:t>
            </a:r>
            <a:r>
              <a:rPr lang="en-US" dirty="0" err="1"/>
              <a:t>wordcloud</a:t>
            </a:r>
            <a:r>
              <a:rPr lang="en-US" dirty="0"/>
              <a:t> and print the </a:t>
            </a:r>
            <a:r>
              <a:rPr lang="en-US" dirty="0" err="1"/>
              <a:t>oftenly</a:t>
            </a:r>
            <a:r>
              <a:rPr lang="en-US" dirty="0"/>
              <a:t> using offensive word</a:t>
            </a:r>
          </a:p>
          <a:p>
            <a:r>
              <a:rPr lang="en-US" dirty="0"/>
              <a:t>Bigger the word means more use of word and lesser the word means less use of words</a:t>
            </a:r>
            <a:endParaRPr lang="en-IN" dirty="0"/>
          </a:p>
        </p:txBody>
      </p:sp>
    </p:spTree>
    <p:extLst>
      <p:ext uri="{BB962C8B-B14F-4D97-AF65-F5344CB8AC3E}">
        <p14:creationId xmlns:p14="http://schemas.microsoft.com/office/powerpoint/2010/main" val="1427334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732F-F889-7110-6FB4-599EF8F2393A}"/>
              </a:ext>
            </a:extLst>
          </p:cNvPr>
          <p:cNvSpPr>
            <a:spLocks noGrp="1"/>
          </p:cNvSpPr>
          <p:nvPr>
            <p:ph type="title"/>
          </p:nvPr>
        </p:nvSpPr>
        <p:spPr/>
        <p:txBody>
          <a:bodyPr/>
          <a:lstStyle/>
          <a:p>
            <a:r>
              <a:rPr lang="en-US" dirty="0"/>
              <a:t>Model training</a:t>
            </a:r>
            <a:endParaRPr lang="en-IN" dirty="0"/>
          </a:p>
        </p:txBody>
      </p:sp>
      <p:sp>
        <p:nvSpPr>
          <p:cNvPr id="3" name="Content Placeholder 2">
            <a:extLst>
              <a:ext uri="{FF2B5EF4-FFF2-40B4-BE49-F238E27FC236}">
                <a16:creationId xmlns:a16="http://schemas.microsoft.com/office/drawing/2014/main" id="{4C4DBA9B-B8D6-F7D9-BFE6-3ACC7A18615D}"/>
              </a:ext>
            </a:extLst>
          </p:cNvPr>
          <p:cNvSpPr>
            <a:spLocks noGrp="1"/>
          </p:cNvSpPr>
          <p:nvPr>
            <p:ph idx="1"/>
          </p:nvPr>
        </p:nvSpPr>
        <p:spPr/>
        <p:txBody>
          <a:bodyPr>
            <a:normAutofit lnSpcReduction="10000"/>
          </a:bodyPr>
          <a:lstStyle/>
          <a:p>
            <a:r>
              <a:rPr lang="en-US" dirty="0"/>
              <a:t>Now import all the required libraries for the model training</a:t>
            </a:r>
          </a:p>
          <a:p>
            <a:r>
              <a:rPr lang="en-US" dirty="0"/>
              <a:t>After importing libraries change the text into vectors using </a:t>
            </a:r>
            <a:r>
              <a:rPr lang="en-US" dirty="0" err="1"/>
              <a:t>Tf-idf</a:t>
            </a:r>
            <a:r>
              <a:rPr lang="en-US" dirty="0"/>
              <a:t> vectorizer and then split the dataset into train and test split</a:t>
            </a:r>
          </a:p>
          <a:p>
            <a:r>
              <a:rPr lang="en-US" dirty="0"/>
              <a:t>Then implement the classification model on the dataset like:-linear regression, decision tree classifier, random forest classifier etc.</a:t>
            </a:r>
          </a:p>
          <a:p>
            <a:r>
              <a:rPr lang="en-US" dirty="0"/>
              <a:t>Now plot the graph which tells us about the area under curve , more the area under curve more will be the better prediction model is performing better</a:t>
            </a:r>
          </a:p>
          <a:p>
            <a:r>
              <a:rPr lang="en-US" dirty="0"/>
              <a:t>After this using trained model predict for the test dataset and save </a:t>
            </a:r>
            <a:r>
              <a:rPr lang="en-US"/>
              <a:t>the model </a:t>
            </a:r>
            <a:endParaRPr lang="en-US" dirty="0"/>
          </a:p>
          <a:p>
            <a:endParaRPr lang="en-IN" dirty="0"/>
          </a:p>
        </p:txBody>
      </p:sp>
    </p:spTree>
    <p:extLst>
      <p:ext uri="{BB962C8B-B14F-4D97-AF65-F5344CB8AC3E}">
        <p14:creationId xmlns:p14="http://schemas.microsoft.com/office/powerpoint/2010/main" val="229172453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27</TotalTime>
  <Words>815</Words>
  <Application>Microsoft Office PowerPoint</Application>
  <PresentationFormat>Widescreen</PresentationFormat>
  <Paragraphs>43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Gill Sans MT</vt:lpstr>
      <vt:lpstr>Wingdings</vt:lpstr>
      <vt:lpstr>Gallery</vt:lpstr>
      <vt:lpstr>Problem statement   </vt:lpstr>
      <vt:lpstr>Problem statement</vt:lpstr>
      <vt:lpstr>Model building :- eda steps</vt:lpstr>
      <vt:lpstr>Visualization steps</vt:lpstr>
      <vt:lpstr>Data cleaning</vt:lpstr>
      <vt:lpstr>Model 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dc:title>
  <dc:creator>ankush5587@outlook.com</dc:creator>
  <cp:lastModifiedBy>ankush5587@outlook.com</cp:lastModifiedBy>
  <cp:revision>1</cp:revision>
  <dcterms:created xsi:type="dcterms:W3CDTF">2022-05-21T04:30:40Z</dcterms:created>
  <dcterms:modified xsi:type="dcterms:W3CDTF">2022-05-21T04:58:03Z</dcterms:modified>
</cp:coreProperties>
</file>